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23.06.26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D258550-D773-9960-BD4F-07D9A5241D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384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FFC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TLP gelb (Adressatenkreis)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7A67288-9912-7A2D-2A95-545A3C2A5D7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510415" y="362952"/>
            <a:ext cx="543254" cy="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Who Makes the Rules?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Machine-Readable Railway Governance</a:t>
            </a:r>
          </a:p>
          <a:p>
            <a:r>
              <a:rPr dirty="0"/>
              <a:t>Hack4Rail 2026 – Team A38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📦 "Here are the regulations. Read them. All of them."</a:t>
            </a:r>
            <a:endParaRPr lang="de-DE" dirty="0"/>
          </a:p>
          <a:p>
            <a:r>
              <a:rPr lang="de-DE" dirty="0"/>
              <a:t>„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“</a:t>
            </a:r>
            <a:endParaRPr dirty="0"/>
          </a:p>
          <a:p>
            <a:endParaRPr dirty="0"/>
          </a:p>
          <a:p>
            <a:r>
              <a:rPr dirty="0"/>
              <a:t>📦📦 "Here's the new version. Compare it.</a:t>
            </a:r>
          </a:p>
          <a:p>
            <a:r>
              <a:rPr dirty="0"/>
              <a:t>      Tell me what changed."</a:t>
            </a:r>
            <a:endParaRPr lang="de-DE" dirty="0"/>
          </a:p>
          <a:p>
            <a:r>
              <a:rPr lang="de-DE" dirty="0"/>
              <a:t>„</a:t>
            </a:r>
            <a:r>
              <a:rPr lang="de-DE" dirty="0" err="1"/>
              <a:t>Apply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“</a:t>
            </a:r>
            <a:endParaRPr dirty="0"/>
          </a:p>
          <a:p>
            <a:endParaRPr dirty="0"/>
          </a:p>
          <a:p>
            <a:r>
              <a:rPr dirty="0"/>
              <a:t>This is what railway companies do today.</a:t>
            </a:r>
          </a:p>
          <a:p>
            <a:r>
              <a:rPr dirty="0"/>
              <a:t>Manually. For hundreds of rules.</a:t>
            </a:r>
          </a:p>
          <a:p>
            <a:r>
              <a:rPr dirty="0"/>
              <a:t>Across multiple countries and languages.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Paradigm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TODAY:</a:t>
            </a:r>
          </a:p>
          <a:p>
            <a:r>
              <a:t>  Word → PDF → humans extract what applies</a:t>
            </a:r>
          </a:p>
          <a:p>
            <a:endParaRPr/>
          </a:p>
          <a:p>
            <a:r>
              <a:t>OUR PROPOSAL:</a:t>
            </a:r>
          </a:p>
          <a:p>
            <a:r>
              <a:t>  Machine-readable FIRST, PDF second.</a:t>
            </a:r>
          </a:p>
          <a:p>
            <a:r>
              <a:t>  The canonical source is structured data.</a:t>
            </a:r>
          </a:p>
          <a:p>
            <a:r>
              <a:t>  The PDF is a generated view.</a:t>
            </a:r>
          </a:p>
          <a:p>
            <a:endParaRPr/>
          </a:p>
          <a:p>
            <a:r>
              <a:t>NIST does it (OSCAL). BSI adopted it.</a:t>
            </a:r>
          </a:p>
          <a:p>
            <a:r>
              <a:t>We bring it to rail: OSCAL4Rail.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OSCAL4Rail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Lightweight profile of NIST OSCAL for railway regulations</a:t>
            </a:r>
          </a:p>
          <a:p>
            <a:endParaRPr/>
          </a:p>
          <a:p>
            <a:r>
              <a:t>Catalog → Groups → Controls</a:t>
            </a:r>
          </a:p>
          <a:p>
            <a:r>
              <a:t>  │         │        └─ One rule (verbatim text)</a:t>
            </a:r>
          </a:p>
          <a:p>
            <a:r>
              <a:t>  │         └─ One chapter</a:t>
            </a:r>
          </a:p>
          <a:p>
            <a:r>
              <a:t>  └─ One regulation</a:t>
            </a:r>
          </a:p>
          <a:p>
            <a:endParaRPr/>
          </a:p>
          <a:p>
            <a:r>
              <a:t>Key features:</a:t>
            </a:r>
          </a:p>
          <a:p>
            <a:r>
              <a:t>• Validated against official NIST JSON Schema</a:t>
            </a:r>
          </a:p>
          <a:p>
            <a:r>
              <a:t>• Verbatim rule text (no interpretation)</a:t>
            </a:r>
          </a:p>
          <a:p>
            <a:r>
              <a:t>• Applicability matrix (channel × transport mode)</a:t>
            </a:r>
          </a:p>
          <a:p>
            <a:r>
              <a:t>• Versioned in Git → changelog for free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of Concept: BS-KI (Switzerland)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Branchenstandard Kundeninformation</a:t>
            </a:r>
          </a:p>
          <a:p>
            <a:r>
              <a:t>44 rules × 6 channels × 4 transport modes</a:t>
            </a:r>
          </a:p>
          <a:p>
            <a:endParaRPr/>
          </a:p>
          <a:p>
            <a:r>
              <a:t>What we did:</a:t>
            </a:r>
          </a:p>
          <a:p>
            <a:r>
              <a:t>• Excel matrix → parsed deterministically</a:t>
            </a:r>
          </a:p>
          <a:p>
            <a:r>
              <a:t>• PDF (64 pages) → chapter-level text extraction</a:t>
            </a:r>
          </a:p>
          <a:p>
            <a:r>
              <a:t>• Combined → one OSCAL Catalog YAML</a:t>
            </a:r>
          </a:p>
          <a:p>
            <a:r>
              <a:t>• Validated against NIST JSON Schema ✅</a:t>
            </a:r>
          </a:p>
          <a:p>
            <a:endParaRPr/>
          </a:p>
          <a:p>
            <a:r>
              <a:t>What changed between 2024 and 2025?</a:t>
            </a:r>
          </a:p>
          <a:p>
            <a:r>
              <a:t>→ git diff.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&amp;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Because it's in Git:</a:t>
            </a:r>
          </a:p>
          <a:p>
            <a:endParaRPr/>
          </a:p>
          <a:p>
            <a:r>
              <a:t>• Full version history of every rule</a:t>
            </a:r>
          </a:p>
          <a:p>
            <a:r>
              <a:t>• Diff: what changed, when, by whom</a:t>
            </a:r>
          </a:p>
          <a:p>
            <a:r>
              <a:t>• Rollback: revert to any previous state</a:t>
            </a:r>
          </a:p>
          <a:p>
            <a:r>
              <a:t>• Audit trail: who approved what</a:t>
            </a:r>
          </a:p>
          <a:p>
            <a:endParaRPr/>
          </a:p>
          <a:p>
            <a:r>
              <a:t>No more: "Which version is current?"</a:t>
            </a:r>
          </a:p>
          <a:p>
            <a:r>
              <a:t>No more: "What exactly changed in §4.2?"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Establishing the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Start with IT/ITS regulations</a:t>
            </a:r>
          </a:p>
          <a:p>
            <a:r>
              <a:t>   (already structured, digital-native)</a:t>
            </a:r>
          </a:p>
          <a:p>
            <a:endParaRPr/>
          </a:p>
          <a:p>
            <a:r>
              <a:t>2. Web editor that behaves like Word</a:t>
            </a:r>
          </a:p>
          <a:p>
            <a:r>
              <a:t>   (low learning curve for governance owners)</a:t>
            </a:r>
          </a:p>
          <a:p>
            <a:endParaRPr/>
          </a:p>
          <a:p>
            <a:r>
              <a:t>3. Import existing governance documents</a:t>
            </a:r>
          </a:p>
          <a:p>
            <a:r>
              <a:t>   → validate → publish as OSCAL</a:t>
            </a:r>
          </a:p>
          <a:p>
            <a:endParaRPr/>
          </a:p>
          <a:p>
            <a:r>
              <a:t>4. Expand: safety regulations, cross-border (TSI),</a:t>
            </a:r>
          </a:p>
          <a:p>
            <a:r>
              <a:t>   operational rules</a:t>
            </a:r>
          </a:p>
          <a:p>
            <a:endParaRPr/>
          </a:p>
          <a:p>
            <a:r>
              <a:t>Little change in workflow. Massive gain in usability.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┌──────────────┐     ┌─────────────┐     ┌──────────────┐</a:t>
            </a:r>
          </a:p>
          <a:p>
            <a:r>
              <a:t>│ Web Editor   │ ──► │ OSCAL4Rail  │ ──► │ PDF (view)   │</a:t>
            </a:r>
          </a:p>
          <a:p>
            <a:r>
              <a:t>│ (looks like  │     │ (canonical  │     │ API (machine)│</a:t>
            </a:r>
          </a:p>
          <a:p>
            <a:r>
              <a:t>│  Word)       │     │  source)    │     │ Diff/Change  │</a:t>
            </a:r>
          </a:p>
          <a:p>
            <a:r>
              <a:t>└──────────────┘     └─────────────┘     └──────────────┘</a:t>
            </a:r>
          </a:p>
          <a:p>
            <a:endParaRPr/>
          </a:p>
          <a:p>
            <a:r>
              <a:t>Governance owners keep writing like they always have.</a:t>
            </a:r>
          </a:p>
          <a:p>
            <a:r>
              <a:t>But the output is structured, versioned, machine-readable.</a:t>
            </a:r>
          </a:p>
          <a:p>
            <a:endParaRPr/>
          </a:p>
          <a:p>
            <a:r>
              <a:t>→ Cross-railway interoperability (DB / SBB / ÖBB)</a:t>
            </a:r>
          </a:p>
          <a:p>
            <a:r>
              <a:t>→ Automated compliance checks</a:t>
            </a:r>
          </a:p>
          <a:p>
            <a:r>
              <a:t>→ Bridge to ACA: contracts validated against regulations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OSCAL4Rail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Machine-readable governance for railways.</a:t>
            </a:r>
          </a:p>
          <a:p>
            <a:endParaRPr dirty="0"/>
          </a:p>
          <a:p>
            <a:r>
              <a:rPr dirty="0"/>
              <a:t>Who makes the rules? Humans.</a:t>
            </a:r>
          </a:p>
          <a:p>
            <a:r>
              <a:rPr dirty="0"/>
              <a:t>How we publish, version, and compare them?</a:t>
            </a:r>
          </a:p>
          <a:p>
            <a:r>
              <a:rPr dirty="0"/>
              <a:t>That's a machine's job.</a:t>
            </a:r>
          </a:p>
          <a:p>
            <a:endParaRPr dirty="0"/>
          </a:p>
          <a:p>
            <a:r>
              <a:rPr dirty="0"/>
              <a:t>Starting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6_H4R_PPTMaster" id="{A8D19306-7F92-3741-8E9B-1996A972416B}" vid="{4B0AC7A3-DE22-B748-A902-9C1F40428D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8" ma:contentTypeDescription="Ein neues Dokument erstellen." ma:contentTypeScope="" ma:versionID="ca18c32604eb9eb075bdd5b520f76d7f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0e0a0918b2fa3636e306fde1bc5c258b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ED3A9D-D1E4-45EA-8B49-CB6F60C2A9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D2420F-AFAE-4394-AC5D-D74FCC39CD53}">
  <ds:schemaRefs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b043894e-b4c8-44d0-9690-d7947297ac19"/>
    <ds:schemaRef ds:uri="http://schemas.microsoft.com/office/2006/documentManagement/types"/>
    <ds:schemaRef ds:uri="b106c448-c3d1-41cc-8fd9-3acb307364b4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7CF5FD6-43E2-4C9A-9372-C9D60EE1772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  <clbl:label id="{3dac9f92-1d4e-4aae-b975-a9900684008d}" enabled="1" method="Standard" siteId="{a1a72d9c-49e6-4f6d-9af6-5aafa1183bf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8</TotalTime>
  <Words>525</Words>
  <Application>Microsoft Macintosh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</vt:lpstr>
      <vt:lpstr>Who Makes the Rules?</vt:lpstr>
      <vt:lpstr>The Problem</vt:lpstr>
      <vt:lpstr>The Paradigm Shift</vt:lpstr>
      <vt:lpstr>OSCAL4Rail</vt:lpstr>
      <vt:lpstr>Proof of Concept: BS-KI (Switzerland)</vt:lpstr>
      <vt:lpstr>Versioning &amp; History</vt:lpstr>
      <vt:lpstr>Next Steps: Establishing the Standard</vt:lpstr>
      <vt:lpstr>The Vision</vt:lpstr>
      <vt:lpstr>OSCAL4Rail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Grote</dc:creator>
  <cp:lastModifiedBy>Jens Grote</cp:lastModifiedBy>
  <cp:revision>2</cp:revision>
  <dcterms:created xsi:type="dcterms:W3CDTF">2026-06-23T13:11:35Z</dcterms:created>
  <dcterms:modified xsi:type="dcterms:W3CDTF">2026-06-23T13:37:55Z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Office:9</vt:lpwstr>
  </property>
  <property fmtid="{D5CDD505-2E9C-101B-9397-08002B2CF9AE}" pid="13" name="ClassificationContentMarkingFooterText">
    <vt:lpwstr>TLP gelb (Adressatenkreis)</vt:lpwstr>
  </property>
</Properties>
</file>