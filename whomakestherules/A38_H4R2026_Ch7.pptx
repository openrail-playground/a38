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57" r:id="rId6"/>
    <p:sldId id="258" r:id="rId7"/>
    <p:sldId id="265" r:id="rId8"/>
    <p:sldId id="259" r:id="rId9"/>
    <p:sldId id="260" r:id="rId10"/>
    <p:sldId id="266" r:id="rId11"/>
    <p:sldId id="261" r:id="rId12"/>
    <p:sldId id="262" r:id="rId13"/>
    <p:sldId id="263" r:id="rId14"/>
    <p:sldId id="264" r:id="rId15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4" autoAdjust="0"/>
    <p:restoredTop sz="94660"/>
  </p:normalViewPr>
  <p:slideViewPr>
    <p:cSldViewPr snapToGrid="0">
      <p:cViewPr varScale="1">
        <p:scale>
          <a:sx n="123" d="100"/>
          <a:sy n="123" d="100"/>
        </p:scale>
        <p:origin x="64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010F720-8D32-6BAD-8FC7-55C3EC778F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C8C2146-660A-AE7C-0329-D018D311B32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de-DE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A5171BE-FD78-76A8-6B80-48367763E1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24.06.26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6B6DB5D-D71E-108F-466B-F91D2C807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EC3ADE4-6B4C-F03A-045E-F6F055DAA4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604407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4DD735-BDD1-94F6-947C-3B25372A2D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B9D8038-CC07-BF42-C180-8213F60929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2B5BDC6-CB74-9C08-B136-A4BC672E42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24.06.26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6169B60-6007-2DBA-498D-F9DD356323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8B44393-FFCD-986E-BD72-B043CB545A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652331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F18F37-2345-A019-5A40-FCFC1B65C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2864E25-78F6-D8C8-4927-DE8FD5D085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6A7F423-0307-C9C0-64D9-B44A22DAB0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24.06.26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9067E8B-CE77-7EB1-A96D-E6233E35B4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A5B2ECE-5BD1-3A50-8A0C-C73776789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670532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9CEEA1-3EDA-9C07-C68A-B91F45D1E3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8FB1FBE-ACB9-17CF-35FE-F544523B8D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1BE1FF5-D165-C3D9-D009-54088DA2CB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7DBB3C3-4B11-A8D5-FFC8-5D5EA1F776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24.06.26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EC073DF-35D5-F739-65B9-A57A2F2F1B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B04A1FD-63C3-0251-81C3-FE9BEA5EA6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252092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990512-17C2-7AF1-E6AB-0FCF669BE6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2C6E44D-923F-EED5-A232-69A34590DD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A6F1B74-D075-1C08-1133-1FF3F0EAAE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7E7FD04D-9D7B-F3EC-5939-F6F1B80200E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FBB85E1D-824B-FBD1-48C6-4AEA385826B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C4C4EE23-62B7-2ADF-BDD6-16EBA027BF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24.06.26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CAD14211-2778-80B5-09A7-D692AF677C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4CE239C4-616C-C451-0F5D-E6E42A7CBB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175887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1823389-CF91-D54F-1BF0-E835245EE5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E46169B-829B-590E-E9AC-4F7E08D945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24.06.26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D033D54-559D-C62E-4A4B-ACC5B365E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2CABE68-C7F2-6F9B-E453-D3661FFB08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823334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420E3135-8B3B-54AC-85DC-D91FD0DC50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24.06.26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DD6C95FA-FD79-8400-617F-FA55B36B51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9B5510F-2C87-7BD6-9F43-0531D639C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75637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183582-0F38-B1B0-EF23-B1DE29E84E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DD2929C-C896-607D-BFD1-1B99E8B18E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3CF0998-1E97-ACA5-EA0D-B4EE0654BB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AD9FEF5-1005-2970-CE12-A0C0CDB3CD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24.06.26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C679C54-569B-0D21-0EFB-237FC789EA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AB40808-4539-2A37-5A17-CC1F436D84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863763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7B77623-19B5-91DE-F760-E886DBEAE4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167D6CE4-044E-8380-AB10-2590AEC8CB7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7CB0F65-BCCD-F72F-1905-1095C7DF66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84837F0-EE1A-7981-C710-9A818DA871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24.06.26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A226F3F-B5B3-2C74-F02D-3E401C0094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35C8464-AB5F-231E-0165-6640E224DB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30618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519370-FC31-BA4E-6845-33A053DBF4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1DAC76CE-BA41-D293-E213-79C6E60A93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350960E-8F1C-2BB9-FAF0-81A292C599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24.06.26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4F09603-E9D8-19AA-E598-29E1050D82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D0CC994-479E-32BA-1C9D-DEA19D5B38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329689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81C970BE-25B3-EFF7-7DE9-41209FEC58C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DB581558-0B33-6026-F9EA-CD06BF61A4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BB87AC9-5C5C-35B5-4B5C-AB6B36800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24.06.26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020FAC1-04C2-DBED-815F-F2F20C3963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E8C25C6-03BF-BA3C-18D7-63B209565A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29416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0D4C124E-7B17-B2FD-9D2F-DDB0A07A77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44BF6DF-E280-5E3C-E0DE-8013715D49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3BA836C-2514-E8BA-CA51-983C4515C45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3E09B6B-B446-416C-B509-27F8143F0A75}" type="datetimeFigureOut">
              <a:rPr lang="de-DE" smtClean="0"/>
              <a:t>24.06.26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12B1274-0C59-E38E-FEC9-32A44E98E7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DDCA194-377F-8AA7-C447-59152C00A8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371D93-8784-4C02-8B2C-86355AB378F9}" type="slidenum">
              <a:rPr lang="de-DE" smtClean="0"/>
              <a:t>‹#›</a:t>
            </a:fld>
            <a:endParaRPr lang="de-DE"/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17A67288-9912-7A2D-2A95-545A3C2A5D73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11510415" y="362952"/>
            <a:ext cx="543254" cy="77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5611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CH" dirty="0"/>
              <a:t>A 38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4973641"/>
            <a:ext cx="9144000" cy="1655762"/>
          </a:xfrm>
        </p:spPr>
        <p:txBody>
          <a:bodyPr/>
          <a:lstStyle/>
          <a:p>
            <a:r>
              <a:rPr lang="de-DE" dirty="0"/>
              <a:t>Team A38</a:t>
            </a:r>
          </a:p>
          <a:p>
            <a:r>
              <a:rPr dirty="0"/>
              <a:t>Machine-Readable Railway Governance</a:t>
            </a:r>
          </a:p>
          <a:p>
            <a:r>
              <a:rPr dirty="0"/>
              <a:t>Hack4Rail 2026 – </a:t>
            </a:r>
            <a:r>
              <a:rPr lang="de-CH" dirty="0"/>
              <a:t>Who </a:t>
            </a:r>
            <a:r>
              <a:rPr lang="de-CH" dirty="0" err="1"/>
              <a:t>Makes</a:t>
            </a:r>
            <a:r>
              <a:rPr lang="de-CH" dirty="0"/>
              <a:t> </a:t>
            </a:r>
            <a:r>
              <a:rPr lang="de-CH" dirty="0" err="1"/>
              <a:t>the</a:t>
            </a:r>
            <a:r>
              <a:rPr lang="de-CH" dirty="0"/>
              <a:t> Rules?</a:t>
            </a:r>
            <a:endParaRPr dirty="0"/>
          </a:p>
        </p:txBody>
      </p:sp>
      <p:pic>
        <p:nvPicPr>
          <p:cNvPr id="4" name="Picture 3" descr="Permit A38: the dilemma of artificial intelligence">
            <a:extLst>
              <a:ext uri="{FF2B5EF4-FFF2-40B4-BE49-F238E27FC236}">
                <a16:creationId xmlns:a16="http://schemas.microsoft.com/office/drawing/2014/main" id="{6808EE80-BE05-4466-4F9C-4D83246953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3689" y="389238"/>
            <a:ext cx="7772400" cy="437881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04812C46-200A-4DEB-A05E-3ED6C68C23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15.224 Stock-Fotos und hochauflösende Bilder zu Papier ...">
            <a:extLst>
              <a:ext uri="{FF2B5EF4-FFF2-40B4-BE49-F238E27FC236}">
                <a16:creationId xmlns:a16="http://schemas.microsoft.com/office/drawing/2014/main" id="{DC659071-9294-E92E-AFC0-36B134A84B7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884" r="-1" b="-1"/>
          <a:stretch>
            <a:fillRect/>
          </a:stretch>
        </p:blipFill>
        <p:spPr>
          <a:xfrm>
            <a:off x="432956" y="0"/>
            <a:ext cx="11658600" cy="8268617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D1EA859B-E555-4109-94F3-6700E046E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125019" y="0"/>
            <a:ext cx="7066978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31610" y="365125"/>
            <a:ext cx="3822189" cy="1899912"/>
          </a:xfrm>
        </p:spPr>
        <p:txBody>
          <a:bodyPr>
            <a:normAutofit/>
          </a:bodyPr>
          <a:lstStyle/>
          <a:p>
            <a:r>
              <a:rPr lang="en-GB" sz="4000" dirty="0"/>
              <a:t>The Problem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The Solution = </a:t>
            </a:r>
            <a:r>
              <a:rPr dirty="0"/>
              <a:t>The Paradigm Shift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9919" y="1590847"/>
            <a:ext cx="10515600" cy="2476211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dirty="0">
                <a:solidFill>
                  <a:srgbClr val="FF0000"/>
                </a:solidFill>
              </a:rPr>
              <a:t>TODAY:</a:t>
            </a:r>
          </a:p>
          <a:p>
            <a:pPr marL="0" indent="0">
              <a:buNone/>
            </a:pPr>
            <a:r>
              <a:rPr dirty="0"/>
              <a:t>Word → PDF → humans extract</a:t>
            </a:r>
            <a:r>
              <a:rPr lang="de-DE" dirty="0"/>
              <a:t> and </a:t>
            </a:r>
            <a:r>
              <a:rPr lang="de-DE" dirty="0" err="1"/>
              <a:t>interpret</a:t>
            </a:r>
            <a:r>
              <a:rPr dirty="0"/>
              <a:t> what applies</a:t>
            </a:r>
          </a:p>
          <a:p>
            <a:endParaRPr dirty="0"/>
          </a:p>
          <a:p>
            <a:pPr marL="0" indent="0">
              <a:buNone/>
            </a:pPr>
            <a:r>
              <a:rPr dirty="0">
                <a:solidFill>
                  <a:srgbClr val="FF0000"/>
                </a:solidFill>
              </a:rPr>
              <a:t>OUR PROPOSAL:</a:t>
            </a:r>
          </a:p>
          <a:p>
            <a:r>
              <a:rPr dirty="0"/>
              <a:t>Machine-readable FIRST, PDF</a:t>
            </a:r>
            <a:r>
              <a:rPr lang="de-DE" dirty="0"/>
              <a:t>/</a:t>
            </a:r>
            <a:r>
              <a:rPr lang="de-DE" dirty="0" err="1"/>
              <a:t>other</a:t>
            </a:r>
            <a:r>
              <a:rPr dirty="0"/>
              <a:t> second.</a:t>
            </a:r>
          </a:p>
          <a:p>
            <a:r>
              <a:rPr dirty="0"/>
              <a:t>The canonical source is structured data</a:t>
            </a:r>
            <a:r>
              <a:rPr lang="de-DE" dirty="0"/>
              <a:t> als </a:t>
            </a:r>
            <a:r>
              <a:rPr lang="de-DE" dirty="0" err="1"/>
              <a:t>single</a:t>
            </a:r>
            <a:r>
              <a:rPr lang="de-DE" dirty="0"/>
              <a:t> </a:t>
            </a:r>
            <a:r>
              <a:rPr lang="de-DE" dirty="0" err="1"/>
              <a:t>point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truth</a:t>
            </a:r>
            <a:endParaRPr dirty="0"/>
          </a:p>
          <a:p>
            <a:pPr marL="0" indent="0">
              <a:buNone/>
            </a:pPr>
            <a:endParaRPr dirty="0"/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AF1082A-27B6-30DC-9FE7-DD832ED10D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418" y="4506777"/>
            <a:ext cx="2859228" cy="1012540"/>
          </a:xfrm>
          <a:prstGeom prst="rect">
            <a:avLst/>
          </a:prstGeom>
        </p:spPr>
      </p:pic>
      <p:pic>
        <p:nvPicPr>
          <p:cNvPr id="6" name="Picture 5" descr="BSI - IT-Grundschutz">
            <a:extLst>
              <a:ext uri="{FF2B5EF4-FFF2-40B4-BE49-F238E27FC236}">
                <a16:creationId xmlns:a16="http://schemas.microsoft.com/office/drawing/2014/main" id="{6E4CCAA5-719B-E2B5-0EE6-2842787744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5272" y="4436773"/>
            <a:ext cx="1624822" cy="97753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E226D47-646A-89B6-0FB8-F581EAA66638}"/>
              </a:ext>
            </a:extLst>
          </p:cNvPr>
          <p:cNvSpPr txBox="1"/>
          <p:nvPr/>
        </p:nvSpPr>
        <p:spPr>
          <a:xfrm>
            <a:off x="1274618" y="4673030"/>
            <a:ext cx="1007918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dirty="0"/>
              <a:t>          	 does it (OSCAL).                  adopted it.</a:t>
            </a:r>
          </a:p>
          <a:p>
            <a:endParaRPr lang="en-GB" sz="4000" dirty="0"/>
          </a:p>
          <a:p>
            <a:pPr algn="ctr"/>
            <a:r>
              <a:rPr lang="en-GB" sz="4000" dirty="0"/>
              <a:t>We bring it to rail: OSCAL4Rail.</a:t>
            </a:r>
            <a:endParaRPr lang="de-DE" sz="4000" dirty="0"/>
          </a:p>
        </p:txBody>
      </p:sp>
      <p:pic>
        <p:nvPicPr>
          <p:cNvPr id="7" name="Picture 6" descr="UIC and its members begin work on the OpenRail Foundation ...">
            <a:extLst>
              <a:ext uri="{FF2B5EF4-FFF2-40B4-BE49-F238E27FC236}">
                <a16:creationId xmlns:a16="http://schemas.microsoft.com/office/drawing/2014/main" id="{A13D5640-F600-AA2F-159A-C28A748D1C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6059" y="5672222"/>
            <a:ext cx="1371600" cy="939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E6287-8659-7C15-D37F-9C66AB86EE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C1D5CA-BCB5-926E-66CC-7B0673AA38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The Solution = </a:t>
            </a:r>
            <a:r>
              <a:rPr dirty="0"/>
              <a:t>The Paradigm Shift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8C322CB-DFCD-E17A-C237-60C6271872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985" y="1663049"/>
            <a:ext cx="2859228" cy="1012540"/>
          </a:xfrm>
          <a:prstGeom prst="rect">
            <a:avLst/>
          </a:prstGeom>
        </p:spPr>
      </p:pic>
      <p:pic>
        <p:nvPicPr>
          <p:cNvPr id="6" name="Picture 5" descr="BSI - IT-Grundschutz">
            <a:extLst>
              <a:ext uri="{FF2B5EF4-FFF2-40B4-BE49-F238E27FC236}">
                <a16:creationId xmlns:a16="http://schemas.microsoft.com/office/drawing/2014/main" id="{3AC0DE79-2640-A765-0E0E-E3D994EBE1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4861" y="2765725"/>
            <a:ext cx="1624822" cy="977535"/>
          </a:xfrm>
          <a:prstGeom prst="rect">
            <a:avLst/>
          </a:prstGeom>
        </p:spPr>
      </p:pic>
      <p:pic>
        <p:nvPicPr>
          <p:cNvPr id="7" name="Picture 6" descr="UIC and its members begin work on the OpenRail Foundation ...">
            <a:extLst>
              <a:ext uri="{FF2B5EF4-FFF2-40B4-BE49-F238E27FC236}">
                <a16:creationId xmlns:a16="http://schemas.microsoft.com/office/drawing/2014/main" id="{1C43864A-07E3-7720-1847-0980898D13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4400" y="4076136"/>
            <a:ext cx="1371600" cy="9398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7E40DA4-615D-A1C3-3EE2-2407F5616E79}"/>
              </a:ext>
            </a:extLst>
          </p:cNvPr>
          <p:cNvSpPr txBox="1"/>
          <p:nvPr/>
        </p:nvSpPr>
        <p:spPr>
          <a:xfrm>
            <a:off x="3521676" y="1594022"/>
            <a:ext cx="47326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5400" dirty="0"/>
              <a:t>Does </a:t>
            </a:r>
            <a:r>
              <a:rPr lang="de-DE" sz="5400" dirty="0" err="1"/>
              <a:t>it</a:t>
            </a:r>
            <a:endParaRPr lang="de-DE" sz="5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894633E-81FA-116C-2333-9EF4790A89FA}"/>
              </a:ext>
            </a:extLst>
          </p:cNvPr>
          <p:cNvSpPr txBox="1"/>
          <p:nvPr/>
        </p:nvSpPr>
        <p:spPr>
          <a:xfrm>
            <a:off x="7459362" y="2675589"/>
            <a:ext cx="47326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5400" dirty="0" err="1"/>
              <a:t>Adopted</a:t>
            </a:r>
            <a:r>
              <a:rPr lang="de-DE" sz="5400" dirty="0"/>
              <a:t> </a:t>
            </a:r>
            <a:r>
              <a:rPr lang="de-DE" sz="5400" dirty="0" err="1"/>
              <a:t>it</a:t>
            </a:r>
            <a:endParaRPr lang="de-DE" sz="5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723C0C1-AB04-7301-57E6-4894BE3752E0}"/>
              </a:ext>
            </a:extLst>
          </p:cNvPr>
          <p:cNvSpPr txBox="1"/>
          <p:nvPr/>
        </p:nvSpPr>
        <p:spPr>
          <a:xfrm>
            <a:off x="838200" y="5194951"/>
            <a:ext cx="10515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5400" dirty="0" err="1"/>
              <a:t>We</a:t>
            </a:r>
            <a:r>
              <a:rPr lang="de-DE" sz="5400" dirty="0"/>
              <a:t> bring </a:t>
            </a:r>
            <a:r>
              <a:rPr lang="de-DE" sz="5400" dirty="0" err="1"/>
              <a:t>it</a:t>
            </a:r>
            <a:r>
              <a:rPr lang="de-DE" sz="5400" dirty="0"/>
              <a:t> </a:t>
            </a:r>
            <a:r>
              <a:rPr lang="de-DE" sz="5400" dirty="0" err="1"/>
              <a:t>to</a:t>
            </a:r>
            <a:r>
              <a:rPr lang="de-DE" sz="5400" dirty="0"/>
              <a:t> Rail – OSCAL4Rail</a:t>
            </a:r>
          </a:p>
        </p:txBody>
      </p:sp>
    </p:spTree>
    <p:extLst>
      <p:ext uri="{BB962C8B-B14F-4D97-AF65-F5344CB8AC3E}">
        <p14:creationId xmlns:p14="http://schemas.microsoft.com/office/powerpoint/2010/main" val="19308833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Idea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Standardization</a:t>
            </a:r>
            <a:r>
              <a:rPr lang="de-DE" dirty="0"/>
              <a:t>: </a:t>
            </a:r>
            <a:r>
              <a:rPr dirty="0"/>
              <a:t>OSCAL4Rail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9982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dirty="0"/>
              <a:t>Lightweight profile of NIST OSCAL</a:t>
            </a:r>
            <a:r>
              <a:rPr lang="de-DE" dirty="0"/>
              <a:t> (</a:t>
            </a:r>
            <a:r>
              <a:rPr lang="en-DE" dirty="0"/>
              <a:t>Open Security Controls Assessment Language)</a:t>
            </a:r>
            <a:r>
              <a:rPr dirty="0"/>
              <a:t> for railway regulations</a:t>
            </a:r>
          </a:p>
          <a:p>
            <a:endParaRPr dirty="0"/>
          </a:p>
          <a:p>
            <a:pPr marL="0" indent="0">
              <a:buNone/>
            </a:pPr>
            <a:endParaRPr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431E05F-1602-EF34-A6A6-7CB030B9E4B0}"/>
              </a:ext>
            </a:extLst>
          </p:cNvPr>
          <p:cNvSpPr/>
          <p:nvPr/>
        </p:nvSpPr>
        <p:spPr>
          <a:xfrm>
            <a:off x="935180" y="2756541"/>
            <a:ext cx="7481455" cy="8520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 err="1"/>
              <a:t>Catalog</a:t>
            </a:r>
            <a:r>
              <a:rPr lang="en-GB" dirty="0"/>
              <a:t>				One regulation</a:t>
            </a:r>
            <a:endParaRPr lang="de-DE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C23DA76-E8F1-4E8D-DF4A-B71F0221E08D}"/>
              </a:ext>
            </a:extLst>
          </p:cNvPr>
          <p:cNvSpPr/>
          <p:nvPr/>
        </p:nvSpPr>
        <p:spPr>
          <a:xfrm>
            <a:off x="2355272" y="4001294"/>
            <a:ext cx="7481455" cy="852055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Groups</a:t>
            </a:r>
            <a:r>
              <a:rPr lang="en-GB" dirty="0"/>
              <a:t>				One chapter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F7F1051-31FC-7502-A717-2C2C9DA88C1D}"/>
              </a:ext>
            </a:extLst>
          </p:cNvPr>
          <p:cNvSpPr/>
          <p:nvPr/>
        </p:nvSpPr>
        <p:spPr>
          <a:xfrm>
            <a:off x="4354945" y="5246047"/>
            <a:ext cx="7481455" cy="85205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Controls</a:t>
            </a:r>
            <a:r>
              <a:rPr lang="en-GB" sz="2000" dirty="0"/>
              <a:t>	</a:t>
            </a:r>
            <a:r>
              <a:rPr lang="en-GB" dirty="0"/>
              <a:t>			One rule, verbatim text</a:t>
            </a:r>
            <a:endParaRPr lang="de-DE" dirty="0"/>
          </a:p>
        </p:txBody>
      </p: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2CBE14B5-36B3-E2B8-0BD2-06162B7F1095}"/>
              </a:ext>
            </a:extLst>
          </p:cNvPr>
          <p:cNvCxnSpPr>
            <a:endCxn id="5" idx="1"/>
          </p:cNvCxnSpPr>
          <p:nvPr/>
        </p:nvCxnSpPr>
        <p:spPr>
          <a:xfrm>
            <a:off x="1402773" y="3608596"/>
            <a:ext cx="952499" cy="81872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E5EFF5FC-A405-15CB-B5E9-6C93A99CF0BC}"/>
              </a:ext>
            </a:extLst>
          </p:cNvPr>
          <p:cNvCxnSpPr>
            <a:cxnSpLocks/>
          </p:cNvCxnSpPr>
          <p:nvPr/>
        </p:nvCxnSpPr>
        <p:spPr>
          <a:xfrm>
            <a:off x="2729346" y="4854142"/>
            <a:ext cx="1625599" cy="80754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Proof of Concept: BS-KI (Switzerland)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dirty="0" err="1"/>
              <a:t>Branchenstandard</a:t>
            </a:r>
            <a:r>
              <a:rPr dirty="0"/>
              <a:t> </a:t>
            </a:r>
            <a:r>
              <a:rPr dirty="0" err="1"/>
              <a:t>Kundeninformation</a:t>
            </a:r>
            <a:endParaRPr dirty="0"/>
          </a:p>
          <a:p>
            <a:r>
              <a:rPr dirty="0"/>
              <a:t>44 rules × 6 channels × 4 transport modes</a:t>
            </a:r>
            <a:endParaRPr lang="de-DE" dirty="0"/>
          </a:p>
          <a:p>
            <a:endParaRPr dirty="0"/>
          </a:p>
          <a:p>
            <a:pPr marL="0" indent="0">
              <a:buNone/>
            </a:pPr>
            <a:r>
              <a:rPr dirty="0"/>
              <a:t>What we did:</a:t>
            </a:r>
            <a:endParaRPr lang="de-DE" dirty="0"/>
          </a:p>
          <a:p>
            <a:r>
              <a:rPr dirty="0"/>
              <a:t>Excel matrix → parsed deterministically</a:t>
            </a:r>
          </a:p>
          <a:p>
            <a:r>
              <a:rPr dirty="0"/>
              <a:t>PDF (64 pages) → chapter-level text extraction</a:t>
            </a:r>
          </a:p>
          <a:p>
            <a:r>
              <a:rPr dirty="0"/>
              <a:t>Combined → one OSCAL Catalog YAML</a:t>
            </a:r>
          </a:p>
          <a:p>
            <a:r>
              <a:rPr dirty="0"/>
              <a:t>Validated against NIST JSON Schema ✅</a:t>
            </a:r>
          </a:p>
          <a:p>
            <a:endParaRPr dirty="0"/>
          </a:p>
          <a:p>
            <a:pPr marL="0" indent="0">
              <a:buNone/>
            </a:pPr>
            <a:r>
              <a:rPr dirty="0"/>
              <a:t>What changed between 2024 and 2025?</a:t>
            </a:r>
          </a:p>
          <a:p>
            <a:pPr marL="0" indent="0">
              <a:buNone/>
            </a:pPr>
            <a:r>
              <a:rPr dirty="0"/>
              <a:t>→ git diff. Done.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B1559-2902-1535-A939-2080D145EE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Logo-SBB-Card | dravetsuisse">
            <a:extLst>
              <a:ext uri="{FF2B5EF4-FFF2-40B4-BE49-F238E27FC236}">
                <a16:creationId xmlns:a16="http://schemas.microsoft.com/office/drawing/2014/main" id="{FD3D38D0-5DA1-C810-10E8-2861ED21C5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05678" y="1465010"/>
            <a:ext cx="3169166" cy="1963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BAF577E-F098-62FD-8EC5-C3B422EF7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Proof of Concept: BS-KI (Switzerland)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1CC123-C6B1-89A4-A905-BA6260D4B2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3555517"/>
            <a:ext cx="10515600" cy="2951849"/>
          </a:xfrm>
        </p:spPr>
        <p:txBody>
          <a:bodyPr>
            <a:normAutofit fontScale="55000" lnSpcReduction="20000"/>
          </a:bodyPr>
          <a:lstStyle/>
          <a:p>
            <a:pPr marL="0" indent="0" algn="ctr">
              <a:buNone/>
            </a:pPr>
            <a:endParaRPr lang="de-DE" sz="3600" dirty="0"/>
          </a:p>
          <a:p>
            <a:pPr marL="0" indent="0" algn="ctr">
              <a:buNone/>
            </a:pPr>
            <a:endParaRPr lang="en-DE" sz="3600" dirty="0"/>
          </a:p>
          <a:p>
            <a:pPr marL="0" indent="0" algn="ctr">
              <a:buNone/>
            </a:pPr>
            <a:endParaRPr lang="de-DE" sz="3600" dirty="0"/>
          </a:p>
          <a:p>
            <a:pPr marL="0" indent="0" algn="ctr">
              <a:buNone/>
            </a:pPr>
            <a:r>
              <a:rPr sz="5100" dirty="0" err="1"/>
              <a:t>Branchenstandard</a:t>
            </a:r>
            <a:r>
              <a:rPr sz="5100" dirty="0"/>
              <a:t> </a:t>
            </a:r>
            <a:r>
              <a:rPr sz="5100" dirty="0" err="1"/>
              <a:t>Kundeninformation</a:t>
            </a:r>
            <a:endParaRPr lang="de-DE" sz="5100" dirty="0"/>
          </a:p>
          <a:p>
            <a:pPr marL="0" indent="0" algn="ctr">
              <a:buNone/>
            </a:pPr>
            <a:r>
              <a:rPr lang="de-DE" sz="3600" dirty="0"/>
              <a:t>(National Standard </a:t>
            </a:r>
            <a:r>
              <a:rPr lang="de-DE" sz="3600" dirty="0" err="1"/>
              <a:t>for</a:t>
            </a:r>
            <a:r>
              <a:rPr lang="de-DE" sz="3600" dirty="0"/>
              <a:t> Passenger Information)</a:t>
            </a:r>
            <a:endParaRPr sz="3600" dirty="0"/>
          </a:p>
          <a:p>
            <a:pPr marL="0" indent="0" algn="ctr">
              <a:buNone/>
            </a:pPr>
            <a:endParaRPr lang="de-DE" sz="3600" dirty="0"/>
          </a:p>
          <a:p>
            <a:pPr marL="0" indent="0" algn="ctr">
              <a:buNone/>
            </a:pPr>
            <a:r>
              <a:rPr sz="5800" dirty="0"/>
              <a:t>44 rules × 6 channels × 4 transport modes</a:t>
            </a:r>
            <a:endParaRPr lang="de-DE" sz="5800" dirty="0"/>
          </a:p>
          <a:p>
            <a:pPr marL="0" indent="0" algn="ctr">
              <a:buNone/>
            </a:pPr>
            <a:r>
              <a:rPr lang="en-GB" sz="3600" dirty="0"/>
              <a:t>P</a:t>
            </a:r>
            <a:r>
              <a:rPr lang="en-DE" sz="3600" dirty="0"/>
              <a:t>lus referenced annexes and documents</a:t>
            </a:r>
            <a:endParaRPr lang="de-DE" sz="3600" dirty="0"/>
          </a:p>
          <a:p>
            <a:pPr algn="ctr"/>
            <a:endParaRPr dirty="0"/>
          </a:p>
        </p:txBody>
      </p:sp>
      <p:pic>
        <p:nvPicPr>
          <p:cNvPr id="6" name="Picture 5" descr="Document documents - free Icon PNG, SVG">
            <a:extLst>
              <a:ext uri="{FF2B5EF4-FFF2-40B4-BE49-F238E27FC236}">
                <a16:creationId xmlns:a16="http://schemas.microsoft.com/office/drawing/2014/main" id="{85AE58B8-A259-14E9-33B6-5C5F8F230D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138" y="1690688"/>
            <a:ext cx="1660002" cy="1660002"/>
          </a:xfrm>
          <a:prstGeom prst="rect">
            <a:avLst/>
          </a:prstGeom>
        </p:spPr>
      </p:pic>
      <p:pic>
        <p:nvPicPr>
          <p:cNvPr id="7" name="Picture 6" descr="Document documents - free Icon PNG, SVG">
            <a:extLst>
              <a:ext uri="{FF2B5EF4-FFF2-40B4-BE49-F238E27FC236}">
                <a16:creationId xmlns:a16="http://schemas.microsoft.com/office/drawing/2014/main" id="{DEF7E1EB-87DF-F48C-0E26-2933E65EC6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5532" y="2784306"/>
            <a:ext cx="1660002" cy="1660002"/>
          </a:xfrm>
          <a:prstGeom prst="rect">
            <a:avLst/>
          </a:prstGeom>
        </p:spPr>
      </p:pic>
      <p:pic>
        <p:nvPicPr>
          <p:cNvPr id="8" name="Picture 7" descr="Document documents - free Icon PNG, SVG">
            <a:extLst>
              <a:ext uri="{FF2B5EF4-FFF2-40B4-BE49-F238E27FC236}">
                <a16:creationId xmlns:a16="http://schemas.microsoft.com/office/drawing/2014/main" id="{90160351-00AC-9D83-DB09-86D3E1E1BD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5852" y="1552991"/>
            <a:ext cx="1660002" cy="1660002"/>
          </a:xfrm>
          <a:prstGeom prst="rect">
            <a:avLst/>
          </a:prstGeom>
        </p:spPr>
      </p:pic>
      <p:pic>
        <p:nvPicPr>
          <p:cNvPr id="9" name="Picture 8" descr="Document documents - free Icon PNG, SVG">
            <a:extLst>
              <a:ext uri="{FF2B5EF4-FFF2-40B4-BE49-F238E27FC236}">
                <a16:creationId xmlns:a16="http://schemas.microsoft.com/office/drawing/2014/main" id="{A1A42A46-2812-7D8F-0536-7B8063BD42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6320" y="2784306"/>
            <a:ext cx="1660002" cy="1660002"/>
          </a:xfrm>
          <a:prstGeom prst="rect">
            <a:avLst/>
          </a:prstGeom>
        </p:spPr>
      </p:pic>
      <p:sp>
        <p:nvSpPr>
          <p:cNvPr id="10" name="Right Arrow 9">
            <a:extLst>
              <a:ext uri="{FF2B5EF4-FFF2-40B4-BE49-F238E27FC236}">
                <a16:creationId xmlns:a16="http://schemas.microsoft.com/office/drawing/2014/main" id="{29A1551A-2F34-3D21-EA3A-E0A1B43E5C0C}"/>
              </a:ext>
            </a:extLst>
          </p:cNvPr>
          <p:cNvSpPr/>
          <p:nvPr/>
        </p:nvSpPr>
        <p:spPr>
          <a:xfrm>
            <a:off x="2174789" y="2131495"/>
            <a:ext cx="3311611" cy="38919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Right Arrow 10">
            <a:extLst>
              <a:ext uri="{FF2B5EF4-FFF2-40B4-BE49-F238E27FC236}">
                <a16:creationId xmlns:a16="http://schemas.microsoft.com/office/drawing/2014/main" id="{E0AFF2FE-68CD-C401-3C29-89B5875CE0DA}"/>
              </a:ext>
            </a:extLst>
          </p:cNvPr>
          <p:cNvSpPr/>
          <p:nvPr/>
        </p:nvSpPr>
        <p:spPr>
          <a:xfrm rot="1070166">
            <a:off x="2163897" y="2811901"/>
            <a:ext cx="1037878" cy="38919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4998DFF4-E328-FD4B-4EE6-08C11C5FA076}"/>
              </a:ext>
            </a:extLst>
          </p:cNvPr>
          <p:cNvSpPr/>
          <p:nvPr/>
        </p:nvSpPr>
        <p:spPr>
          <a:xfrm rot="9965467">
            <a:off x="4470679" y="2893913"/>
            <a:ext cx="1037878" cy="389194"/>
          </a:xfrm>
          <a:prstGeom prst="rightArrow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Right Arrow 12">
            <a:extLst>
              <a:ext uri="{FF2B5EF4-FFF2-40B4-BE49-F238E27FC236}">
                <a16:creationId xmlns:a16="http://schemas.microsoft.com/office/drawing/2014/main" id="{EB89A13B-8D8B-8D5C-8450-68F2F4FBD0D6}"/>
              </a:ext>
            </a:extLst>
          </p:cNvPr>
          <p:cNvSpPr/>
          <p:nvPr/>
        </p:nvSpPr>
        <p:spPr>
          <a:xfrm>
            <a:off x="6819025" y="2925086"/>
            <a:ext cx="1037878" cy="38919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Right Arrow 13">
            <a:extLst>
              <a:ext uri="{FF2B5EF4-FFF2-40B4-BE49-F238E27FC236}">
                <a16:creationId xmlns:a16="http://schemas.microsoft.com/office/drawing/2014/main" id="{527E9953-8AC8-01B6-E7F8-F2B3FD82E5FF}"/>
              </a:ext>
            </a:extLst>
          </p:cNvPr>
          <p:cNvSpPr/>
          <p:nvPr/>
        </p:nvSpPr>
        <p:spPr>
          <a:xfrm rot="10800000">
            <a:off x="4440194" y="3565643"/>
            <a:ext cx="3311611" cy="389194"/>
          </a:xfrm>
          <a:prstGeom prst="right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310176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Versioning &amp;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dirty="0"/>
              <a:t>Because it's in Git</a:t>
            </a:r>
            <a:r>
              <a:rPr lang="de-DE" dirty="0"/>
              <a:t> and </a:t>
            </a:r>
            <a:r>
              <a:rPr lang="de-DE" dirty="0" err="1"/>
              <a:t>Json</a:t>
            </a:r>
            <a:r>
              <a:rPr lang="de-DE" dirty="0"/>
              <a:t>/Schema</a:t>
            </a:r>
            <a:r>
              <a:rPr dirty="0"/>
              <a:t>:</a:t>
            </a:r>
          </a:p>
          <a:p>
            <a:endParaRPr dirty="0"/>
          </a:p>
          <a:p>
            <a:r>
              <a:rPr dirty="0"/>
              <a:t>Full version history of every rule</a:t>
            </a:r>
          </a:p>
          <a:p>
            <a:r>
              <a:rPr dirty="0"/>
              <a:t>Diff: what changed, when, by whom</a:t>
            </a:r>
          </a:p>
          <a:p>
            <a:r>
              <a:rPr dirty="0"/>
              <a:t>Rollback: revert to any previous state</a:t>
            </a:r>
          </a:p>
          <a:p>
            <a:r>
              <a:rPr dirty="0"/>
              <a:t>Audit trail: who approved what</a:t>
            </a:r>
          </a:p>
          <a:p>
            <a:endParaRPr dirty="0"/>
          </a:p>
          <a:p>
            <a:pPr marL="0" indent="0">
              <a:buNone/>
            </a:pPr>
            <a:r>
              <a:rPr dirty="0"/>
              <a:t>No more: "Which version is current?"</a:t>
            </a:r>
          </a:p>
          <a:p>
            <a:pPr marL="0" indent="0">
              <a:buNone/>
            </a:pPr>
            <a:r>
              <a:rPr dirty="0"/>
              <a:t>No more: "What exactly changed in §4.2?"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34EF61CF-21D7-3ADA-7DD3-32153FADE9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3908" y="1555751"/>
            <a:ext cx="4621212" cy="462121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Next Steps: Establishing the Standard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61134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sz="2000" dirty="0"/>
              <a:t>1. Start with IT/ITS regulations</a:t>
            </a:r>
            <a:r>
              <a:rPr lang="de-DE" sz="2000" dirty="0"/>
              <a:t> </a:t>
            </a:r>
            <a:r>
              <a:rPr sz="2000" dirty="0"/>
              <a:t>(already structured, digital-native)</a:t>
            </a:r>
            <a:endParaRPr lang="de-DE" sz="2000" dirty="0"/>
          </a:p>
          <a:p>
            <a:pPr marL="0" indent="0">
              <a:buNone/>
            </a:pPr>
            <a:r>
              <a:rPr lang="de-DE" sz="2000" dirty="0"/>
              <a:t>	- </a:t>
            </a:r>
            <a:r>
              <a:rPr lang="de-DE" sz="2000" dirty="0" err="1"/>
              <a:t>Verify</a:t>
            </a:r>
            <a:r>
              <a:rPr lang="de-DE" sz="2000" dirty="0"/>
              <a:t> </a:t>
            </a:r>
            <a:r>
              <a:rPr lang="de-DE" sz="2000" dirty="0" err="1"/>
              <a:t>automated</a:t>
            </a:r>
            <a:r>
              <a:rPr lang="de-DE" sz="2000" dirty="0"/>
              <a:t> </a:t>
            </a:r>
            <a:r>
              <a:rPr lang="de-DE" sz="2000" dirty="0" err="1"/>
              <a:t>creation</a:t>
            </a:r>
            <a:r>
              <a:rPr lang="de-DE" sz="2000" dirty="0"/>
              <a:t> </a:t>
            </a:r>
            <a:r>
              <a:rPr lang="de-DE" sz="2000" dirty="0" err="1"/>
              <a:t>of</a:t>
            </a:r>
            <a:r>
              <a:rPr lang="de-DE" sz="2000" dirty="0"/>
              <a:t> </a:t>
            </a:r>
            <a:r>
              <a:rPr lang="de-DE" sz="2000" dirty="0" err="1"/>
              <a:t>schemata</a:t>
            </a:r>
            <a:r>
              <a:rPr lang="de-DE" sz="2000" dirty="0"/>
              <a:t> </a:t>
            </a:r>
            <a:r>
              <a:rPr lang="de-DE" sz="2000" dirty="0" err="1"/>
              <a:t>with</a:t>
            </a:r>
            <a:r>
              <a:rPr lang="de-DE" sz="2000" dirty="0"/>
              <a:t> </a:t>
            </a:r>
            <a:r>
              <a:rPr lang="de-DE" sz="2000" dirty="0" err="1"/>
              <a:t>governance</a:t>
            </a:r>
            <a:r>
              <a:rPr lang="de-DE" sz="2000" dirty="0"/>
              <a:t> </a:t>
            </a:r>
            <a:r>
              <a:rPr lang="de-DE" sz="2000" dirty="0" err="1"/>
              <a:t>owners</a:t>
            </a:r>
            <a:endParaRPr sz="2000" dirty="0"/>
          </a:p>
          <a:p>
            <a:endParaRPr sz="2000" dirty="0"/>
          </a:p>
          <a:p>
            <a:pPr marL="0" indent="0">
              <a:buNone/>
            </a:pPr>
            <a:r>
              <a:rPr lang="de-DE" sz="2000" dirty="0"/>
              <a:t>2.</a:t>
            </a:r>
            <a:r>
              <a:rPr sz="2000" dirty="0"/>
              <a:t> Import existing governance documents</a:t>
            </a:r>
            <a:endParaRPr lang="de-DE" sz="2000" dirty="0"/>
          </a:p>
          <a:p>
            <a:pPr marL="0" indent="0">
              <a:buNone/>
            </a:pPr>
            <a:r>
              <a:rPr lang="de-DE" sz="2000" dirty="0"/>
              <a:t>	</a:t>
            </a:r>
            <a:r>
              <a:rPr sz="2000" dirty="0"/>
              <a:t>→ validate → publish as OSCAL</a:t>
            </a:r>
          </a:p>
          <a:p>
            <a:endParaRPr sz="2000" dirty="0"/>
          </a:p>
          <a:p>
            <a:pPr marL="0" indent="0">
              <a:buNone/>
            </a:pPr>
            <a:r>
              <a:rPr lang="de-DE" sz="2000" dirty="0"/>
              <a:t>3</a:t>
            </a:r>
            <a:r>
              <a:rPr sz="2000" dirty="0"/>
              <a:t>. Expand: safety regulations, cross-border (TSI),</a:t>
            </a:r>
            <a:r>
              <a:rPr lang="de-DE" sz="2000" dirty="0"/>
              <a:t> </a:t>
            </a:r>
            <a:r>
              <a:rPr sz="2000" dirty="0"/>
              <a:t>operational rules</a:t>
            </a:r>
            <a:endParaRPr lang="de-DE" sz="2000" dirty="0"/>
          </a:p>
          <a:p>
            <a:pPr marL="0" indent="0">
              <a:buNone/>
            </a:pPr>
            <a:endParaRPr lang="en-DE" sz="2000" dirty="0"/>
          </a:p>
          <a:p>
            <a:pPr marL="0" indent="0">
              <a:buNone/>
            </a:pPr>
            <a:r>
              <a:rPr lang="en-DE" sz="2000" dirty="0"/>
              <a:t>4. </a:t>
            </a:r>
            <a:r>
              <a:rPr lang="en-GB" sz="2000" dirty="0"/>
              <a:t>F</a:t>
            </a:r>
            <a:r>
              <a:rPr lang="en-DE" sz="2000" dirty="0"/>
              <a:t>ind easy tools for non technical governance Owners to participate to create structured rules</a:t>
            </a:r>
            <a:endParaRPr sz="2000" dirty="0"/>
          </a:p>
          <a:p>
            <a:endParaRPr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46D0452-0439-E6B7-5E7E-A087D02FF2EA}"/>
              </a:ext>
            </a:extLst>
          </p:cNvPr>
          <p:cNvSpPr txBox="1"/>
          <p:nvPr/>
        </p:nvSpPr>
        <p:spPr>
          <a:xfrm>
            <a:off x="926757" y="5696465"/>
            <a:ext cx="984833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/>
              <a:t>Little change in workflow. Massive gain in usability.</a:t>
            </a:r>
          </a:p>
          <a:p>
            <a:pPr algn="ctr"/>
            <a:r>
              <a:rPr lang="en-GB" sz="2800" dirty="0"/>
              <a:t>→ Cross-railway interoperability (DB / SBB / ÖBB / SCNF / …)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dirty="0"/>
              <a:t>┌──────────────┐     ┌─────────────┐     ┌──────────────┐</a:t>
            </a:r>
          </a:p>
          <a:p>
            <a:r>
              <a:rPr dirty="0"/>
              <a:t>│ Web Editor   │ ──► │ OSCAL4Rail  │ ──► │ PDF (view)   │</a:t>
            </a:r>
          </a:p>
          <a:p>
            <a:r>
              <a:rPr dirty="0"/>
              <a:t>│ (looks like  │     │ (canonical  │     │ API (machine)│</a:t>
            </a:r>
          </a:p>
          <a:p>
            <a:r>
              <a:rPr dirty="0"/>
              <a:t>│  Word)       │     │  source)    │     │ Diff/Change  │</a:t>
            </a:r>
          </a:p>
          <a:p>
            <a:r>
              <a:rPr dirty="0"/>
              <a:t>└──────────────┘     └─────────────┘     └──────────────┘</a:t>
            </a:r>
          </a:p>
          <a:p>
            <a:endParaRPr dirty="0"/>
          </a:p>
          <a:p>
            <a:r>
              <a:rPr dirty="0"/>
              <a:t>Governance owners keep writing like they always have.</a:t>
            </a:r>
          </a:p>
          <a:p>
            <a:r>
              <a:rPr dirty="0"/>
              <a:t>But the output is structured, versioned, machine-readable.</a:t>
            </a:r>
          </a:p>
          <a:p>
            <a:endParaRPr dirty="0"/>
          </a:p>
          <a:p>
            <a:r>
              <a:rPr dirty="0"/>
              <a:t>→ Automated compliance checks</a:t>
            </a:r>
          </a:p>
          <a:p>
            <a:r>
              <a:rPr dirty="0"/>
              <a:t>→ Bridge to ACA: contracts validated against regulations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anchor="t"/>
          <a:lstStyle/>
          <a:p>
            <a:r>
              <a:rPr dirty="0"/>
              <a:t>OSCAL4Rail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31818" y="2601119"/>
            <a:ext cx="9144000" cy="3134518"/>
          </a:xfrm>
        </p:spPr>
        <p:txBody>
          <a:bodyPr>
            <a:normAutofit lnSpcReduction="10000"/>
          </a:bodyPr>
          <a:lstStyle/>
          <a:p>
            <a:r>
              <a:rPr dirty="0"/>
              <a:t>Machine-readable governance for railways.</a:t>
            </a:r>
          </a:p>
          <a:p>
            <a:endParaRPr dirty="0"/>
          </a:p>
          <a:p>
            <a:r>
              <a:rPr dirty="0"/>
              <a:t>Who makes the rules? Humans.</a:t>
            </a:r>
          </a:p>
          <a:p>
            <a:r>
              <a:rPr dirty="0"/>
              <a:t>How we publish, version, and compare them?</a:t>
            </a:r>
          </a:p>
          <a:p>
            <a:r>
              <a:rPr dirty="0"/>
              <a:t>That's a machine's job.</a:t>
            </a:r>
          </a:p>
          <a:p>
            <a:endParaRPr dirty="0"/>
          </a:p>
          <a:p>
            <a:r>
              <a:rPr dirty="0"/>
              <a:t>Starting today.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2026_H4R_PPTMaster" id="{A8D19306-7F92-3741-8E9B-1996A972416B}" vid="{4B0AC7A3-DE22-B748-A902-9C1F40428DBF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Copyright xmlns="b106c448-c3d1-41cc-8fd9-3acb307364b4" xsi:nil="true"/>
    <lcf76f155ced4ddcb4097134ff3c332f xmlns="b106c448-c3d1-41cc-8fd9-3acb307364b4">
      <Terms xmlns="http://schemas.microsoft.com/office/infopath/2007/PartnerControls"/>
    </lcf76f155ced4ddcb4097134ff3c332f>
    <TaxCatchAll xmlns="b043894e-b4c8-44d0-9690-d7947297ac19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C5895299445B8C4DB378BBB718B1F939" ma:contentTypeVersion="18" ma:contentTypeDescription="Ein neues Dokument erstellen." ma:contentTypeScope="" ma:versionID="ca18c32604eb9eb075bdd5b520f76d7f">
  <xsd:schema xmlns:xsd="http://www.w3.org/2001/XMLSchema" xmlns:xs="http://www.w3.org/2001/XMLSchema" xmlns:p="http://schemas.microsoft.com/office/2006/metadata/properties" xmlns:ns2="b106c448-c3d1-41cc-8fd9-3acb307364b4" xmlns:ns3="b043894e-b4c8-44d0-9690-d7947297ac19" targetNamespace="http://schemas.microsoft.com/office/2006/metadata/properties" ma:root="true" ma:fieldsID="0e0a0918b2fa3636e306fde1bc5c258b" ns2:_="" ns3:_="">
    <xsd:import namespace="b106c448-c3d1-41cc-8fd9-3acb307364b4"/>
    <xsd:import namespace="b043894e-b4c8-44d0-9690-d7947297ac19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2:MediaServiceObjectDetectorVersions" minOccurs="0"/>
                <xsd:element ref="ns2:MediaLengthInSeconds" minOccurs="0"/>
                <xsd:element ref="ns2:MediaServiceSearchProperties" minOccurs="0"/>
                <xsd:element ref="ns2:Copyright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106c448-c3d1-41cc-8fd9-3acb307364b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3" nillable="true" ma:taxonomy="true" ma:internalName="lcf76f155ced4ddcb4097134ff3c332f" ma:taxonomyFieldName="MediaServiceImageTags" ma:displayName="Bildmarkierungen" ma:readOnly="false" ma:fieldId="{5cf76f15-5ced-4ddc-b409-7134ff3c332f}" ma:taxonomyMulti="true" ma:sspId="f80f6d38-43b1-4def-ac06-3ce7426a3aa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hidden="true" ma:internalName="MediaServiceOCR" ma:readOnly="true">
      <xsd:simpleType>
        <xsd:restriction base="dms:Note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Location" ma:index="19" nillable="true" ma:displayName="Location" ma:hidden="true" ma:indexed="true" ma:internalName="MediaServiceLocation" ma:readOnly="true">
      <xsd:simpleType>
        <xsd:restriction base="dms:Text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Copyright" ma:index="23" nillable="true" ma:displayName="Copyright" ma:description="Quellenangabe" ma:format="Dropdown" ma:internalName="Copyright">
      <xsd:simpleType>
        <xsd:restriction base="dms:Text">
          <xsd:maxLength value="255"/>
        </xsd:restriction>
      </xsd:simpleType>
    </xsd:element>
    <xsd:element name="MediaServiceBillingMetadata" ma:index="24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043894e-b4c8-44d0-9690-d7947297ac19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Freigegeben für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Freigegeben für - Details" ma:hidden="true" ma:internalName="SharedWithDetails" ma:readOnly="true">
      <xsd:simpleType>
        <xsd:restriction base="dms:Note"/>
      </xsd:simpleType>
    </xsd:element>
    <xsd:element name="TaxCatchAll" ma:index="14" nillable="true" ma:displayName="Taxonomy Catch All Column" ma:hidden="true" ma:list="{d38ad991-424d-4a22-91ec-88ad21543f30}" ma:internalName="TaxCatchAll" ma:readOnly="false" ma:showField="CatchAllData" ma:web="b043894e-b4c8-44d0-9690-d7947297ac1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Inhaltstyp"/>
        <xsd:element ref="dc:title" minOccurs="0" maxOccurs="1" ma:index="1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6D2420F-AFAE-4394-AC5D-D74FCC39CD53}">
  <ds:schemaRefs>
    <ds:schemaRef ds:uri="http://schemas.microsoft.com/office/infopath/2007/PartnerControls"/>
    <ds:schemaRef ds:uri="http://www.w3.org/XML/1998/namespace"/>
    <ds:schemaRef ds:uri="http://schemas.microsoft.com/office/2006/metadata/properties"/>
    <ds:schemaRef ds:uri="http://purl.org/dc/elements/1.1/"/>
    <ds:schemaRef ds:uri="http://schemas.openxmlformats.org/package/2006/metadata/core-properties"/>
    <ds:schemaRef ds:uri="b043894e-b4c8-44d0-9690-d7947297ac19"/>
    <ds:schemaRef ds:uri="http://schemas.microsoft.com/office/2006/documentManagement/types"/>
    <ds:schemaRef ds:uri="b106c448-c3d1-41cc-8fd9-3acb307364b4"/>
    <ds:schemaRef ds:uri="http://purl.org/dc/dcmitype/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0BED3A9D-D1E4-45EA-8B49-CB6F60C2A98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106c448-c3d1-41cc-8fd9-3acb307364b4"/>
    <ds:schemaRef ds:uri="b043894e-b4c8-44d0-9690-d7947297ac1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47CF5FD6-43E2-4C9A-9372-C9D60EE1772B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0cda0c22-3e77-43b9-8faf-0bad2baf7893}" enabled="1" method="Standard" siteId="{085c0b65-6a84-4006-851e-5faa7ec5367e}" contentBits="2" removed="0"/>
  <clbl:label id="{3dac9f92-1d4e-4aae-b975-a9900684008d}" enabled="1" method="Standard" siteId="{a1a72d9c-49e6-4f6d-9af6-5aafa1183bfd}" contentBits="1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</Template>
  <TotalTime>25</TotalTime>
  <Words>501</Words>
  <Application>Microsoft Macintosh PowerPoint</Application>
  <PresentationFormat>Widescreen</PresentationFormat>
  <Paragraphs>87</Paragraphs>
  <Slides>11</Slides>
  <Notes>0</Notes>
  <HiddenSlides>3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Arial</vt:lpstr>
      <vt:lpstr>Calibri</vt:lpstr>
      <vt:lpstr>Office</vt:lpstr>
      <vt:lpstr>A 38</vt:lpstr>
      <vt:lpstr>The Problem</vt:lpstr>
      <vt:lpstr>The Solution = The Paradigm Shift</vt:lpstr>
      <vt:lpstr>The Solution = The Paradigm Shift</vt:lpstr>
      <vt:lpstr>Idea for Standardization: OSCAL4Rail</vt:lpstr>
      <vt:lpstr>Proof of Concept: BS-KI (Switzerland)</vt:lpstr>
      <vt:lpstr>Proof of Concept: BS-KI (Switzerland)</vt:lpstr>
      <vt:lpstr>Versioning &amp; History</vt:lpstr>
      <vt:lpstr>Next Steps: Establishing the Standard</vt:lpstr>
      <vt:lpstr>The Vision</vt:lpstr>
      <vt:lpstr>OSCAL4Rail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Jens Grote</dc:creator>
  <cp:lastModifiedBy>Jens Grote</cp:lastModifiedBy>
  <cp:revision>12</cp:revision>
  <dcterms:created xsi:type="dcterms:W3CDTF">2026-06-23T13:11:35Z</dcterms:created>
  <dcterms:modified xsi:type="dcterms:W3CDTF">2026-06-24T07:34:36Z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3dac9f92-1d4e-4aae-b975-a9900684008d_Enabled">
    <vt:lpwstr>true</vt:lpwstr>
  </property>
  <property fmtid="{D5CDD505-2E9C-101B-9397-08002B2CF9AE}" pid="3" name="MSIP_Label_3dac9f92-1d4e-4aae-b975-a9900684008d_SetDate">
    <vt:lpwstr>2025-06-16T07:21:58Z</vt:lpwstr>
  </property>
  <property fmtid="{D5CDD505-2E9C-101B-9397-08002B2CF9AE}" pid="4" name="MSIP_Label_3dac9f92-1d4e-4aae-b975-a9900684008d_Method">
    <vt:lpwstr>Standard</vt:lpwstr>
  </property>
  <property fmtid="{D5CDD505-2E9C-101B-9397-08002B2CF9AE}" pid="5" name="MSIP_Label_3dac9f92-1d4e-4aae-b975-a9900684008d_Name">
    <vt:lpwstr>DB Intern</vt:lpwstr>
  </property>
  <property fmtid="{D5CDD505-2E9C-101B-9397-08002B2CF9AE}" pid="6" name="MSIP_Label_3dac9f92-1d4e-4aae-b975-a9900684008d_SiteId">
    <vt:lpwstr>a1a72d9c-49e6-4f6d-9af6-5aafa1183bfd</vt:lpwstr>
  </property>
  <property fmtid="{D5CDD505-2E9C-101B-9397-08002B2CF9AE}" pid="7" name="MSIP_Label_3dac9f92-1d4e-4aae-b975-a9900684008d_ActionId">
    <vt:lpwstr>bb24dd71-d472-4ddc-9b15-9c5081759944</vt:lpwstr>
  </property>
  <property fmtid="{D5CDD505-2E9C-101B-9397-08002B2CF9AE}" pid="8" name="MSIP_Label_3dac9f92-1d4e-4aae-b975-a9900684008d_ContentBits">
    <vt:lpwstr>1</vt:lpwstr>
  </property>
  <property fmtid="{D5CDD505-2E9C-101B-9397-08002B2CF9AE}" pid="9" name="ClassificationContentMarkingHeaderLocations">
    <vt:lpwstr>Office:9</vt:lpwstr>
  </property>
  <property fmtid="{D5CDD505-2E9C-101B-9397-08002B2CF9AE}" pid="10" name="ClassificationContentMarkingHeaderText">
    <vt:lpwstr>          DB Intern / DB internal</vt:lpwstr>
  </property>
  <property fmtid="{D5CDD505-2E9C-101B-9397-08002B2CF9AE}" pid="11" name="ContentTypeId">
    <vt:lpwstr>0x010100C5895299445B8C4DB378BBB718B1F939</vt:lpwstr>
  </property>
  <property fmtid="{D5CDD505-2E9C-101B-9397-08002B2CF9AE}" pid="12" name="ClassificationContentMarkingFooterLocations">
    <vt:lpwstr>Office:9</vt:lpwstr>
  </property>
  <property fmtid="{D5CDD505-2E9C-101B-9397-08002B2CF9AE}" pid="13" name="ClassificationContentMarkingFooterText">
    <vt:lpwstr>TLP gelb (Adressatenkreis)</vt:lpwstr>
  </property>
</Properties>
</file>