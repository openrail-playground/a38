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32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0F720-8D32-6BAD-8FC7-55C3EC778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8C2146-660A-AE7C-0329-D018D311B3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5171BE-FD78-76A8-6B80-48367763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6DB5D-D71E-108F-466B-F91D2C80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C3ADE4-6B4C-F03A-045E-F6F055DA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0440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DD735-BDD1-94F6-947C-3B25372A2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9D8038-CC07-BF42-C180-8213F6092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B5BDC6-CB74-9C08-B136-A4BC672E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69B60-6007-2DBA-498D-F9DD35632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B44393-FFCD-986E-BD72-B043CB54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5233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F18F37-2345-A019-5A40-FCFC1B65C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864E25-78F6-D8C8-4927-DE8FD5D0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A7F423-0307-C9C0-64D9-B44A22DAB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067E8B-CE77-7EB1-A96D-E6233E35B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B2ECE-5BD1-3A50-8A0C-C7377678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053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CEEA1-3EDA-9C07-C68A-B91F45D1E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FB1FBE-ACB9-17CF-35FE-F544523B8D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BE1FF5-D165-C3D9-D009-54088DA2C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DBB3C3-4B11-A8D5-FFC8-5D5EA1F7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C073DF-35D5-F739-65B9-A57A2F2F1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04A1FD-63C3-0251-81C3-FE9BEA5E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20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90512-17C2-7AF1-E6AB-0FCF669B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C6E44D-923F-EED5-A232-69A34590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A6F1B74-D075-1C08-1133-1FF3F0EAA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E7FD04D-9D7B-F3EC-5939-F6F1B8020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BB85E1D-824B-FBD1-48C6-4AEA38582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C4EE23-62B7-2ADF-BDD6-16EBA027B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D14211-2778-80B5-09A7-D692AF67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CE239C4-616C-C451-0F5D-E6E42A7C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58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23389-CF91-D54F-1BF0-E835245EE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46169B-829B-590E-E9AC-4F7E08D94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033D54-559D-C62E-4A4B-ACC5B365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CABE68-C7F2-6F9B-E453-D3661FFB0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233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20E3135-8B3B-54AC-85DC-D91FD0DC5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6C95FA-FD79-8400-617F-FA55B36B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B5510F-2C87-7BD6-9F43-0531D63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56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83582-0F38-B1B0-EF23-B1DE29E8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D2929C-C896-607D-BFD1-1B99E8B18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3CF0998-1E97-ACA5-EA0D-B4EE0654B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D9FEF5-1005-2970-CE12-A0C0CDB3C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679C54-569B-0D21-0EFB-237FC789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B40808-4539-2A37-5A17-CC1F436D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6376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B77623-19B5-91DE-F760-E886DBEA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67D6CE4-044E-8380-AB10-2590AEC8C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CB0F65-BCCD-F72F-1905-1095C7DF6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4837F0-EE1A-7981-C710-9A818DA87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226F3F-B5B3-2C74-F02D-3E401C00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C8464-AB5F-231E-0165-6640E224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06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19370-FC31-BA4E-6845-33A053DB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DAC76CE-BA41-D293-E213-79C6E60A9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50960E-8F1C-2BB9-FAF0-81A292C5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09603-E9D8-19AA-E598-29E1050D8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0CC994-479E-32BA-1C9D-DEA19D5B3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968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1C970BE-25B3-EFF7-7DE9-41209FEC58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581558-0B33-6026-F9EA-CD06BF61A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B87AC9-5C5C-35B5-4B5C-AB6B3680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20FAC1-04C2-DBED-815F-F2F20C396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C25C6-03BF-BA3C-18D7-63B20956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4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4C124E-7B17-B2FD-9D2F-DDB0A07A7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BF6DF-E280-5E3C-E0DE-8013715D4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BA836C-2514-E8BA-CA51-983C4515C4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B1274-0C59-E38E-FEC9-32A44E98E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DCA194-377F-8AA7-C447-59152C00A8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7A67288-9912-7A2D-2A95-545A3C2A5D7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510415" y="362952"/>
            <a:ext cx="543254" cy="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1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A 38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Machine-Readable Railway Governance</a:t>
            </a:r>
          </a:p>
          <a:p>
            <a:r>
              <a:rPr dirty="0"/>
              <a:t>Hack4Rail 2026 – </a:t>
            </a:r>
            <a:r>
              <a:rPr lang="de-CH" dirty="0"/>
              <a:t>Who </a:t>
            </a:r>
            <a:r>
              <a:rPr lang="de-CH" dirty="0" err="1"/>
              <a:t>Makes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Rules?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dirty="0"/>
              <a:t>📦 "Here are the regulations. Read them. All of them."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„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“</a:t>
            </a:r>
            <a:endParaRPr dirty="0"/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📦📦 "Here's the new version. Compare it.</a:t>
            </a:r>
            <a:r>
              <a:rPr lang="de-CH" dirty="0"/>
              <a:t> </a:t>
            </a:r>
            <a:r>
              <a:rPr dirty="0"/>
              <a:t>Tell me what changed."</a:t>
            </a:r>
            <a:endParaRPr lang="de-CH" dirty="0"/>
          </a:p>
          <a:p>
            <a:pPr marL="0" indent="0">
              <a:buNone/>
            </a:pPr>
            <a:r>
              <a:rPr lang="de-DE" dirty="0"/>
              <a:t>„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“</a:t>
            </a:r>
            <a:endParaRPr dirty="0"/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This is what railway companies do today.</a:t>
            </a:r>
          </a:p>
          <a:p>
            <a:pPr marL="0" indent="0">
              <a:buNone/>
            </a:pPr>
            <a:r>
              <a:rPr dirty="0"/>
              <a:t>Manually. For hundreds of rules</a:t>
            </a:r>
            <a:r>
              <a:rPr lang="de-CH" dirty="0"/>
              <a:t>…</a:t>
            </a:r>
            <a:endParaRPr dirty="0"/>
          </a:p>
          <a:p>
            <a:pPr marL="0" indent="0">
              <a:buNone/>
            </a:pPr>
            <a:r>
              <a:rPr dirty="0"/>
              <a:t>Across multiple countries and languages.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The Paradigm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919" y="1590847"/>
            <a:ext cx="10515600" cy="2476211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dirty="0">
                <a:solidFill>
                  <a:srgbClr val="FF0000"/>
                </a:solidFill>
              </a:rPr>
              <a:t>TODAY:</a:t>
            </a:r>
          </a:p>
          <a:p>
            <a:pPr marL="0" indent="0">
              <a:buNone/>
            </a:pPr>
            <a:r>
              <a:rPr dirty="0"/>
              <a:t>Word → PDF → humans extract</a:t>
            </a:r>
            <a:r>
              <a:rPr lang="de-DE" dirty="0"/>
              <a:t> and </a:t>
            </a:r>
            <a:r>
              <a:rPr lang="de-DE" dirty="0" err="1"/>
              <a:t>interpret</a:t>
            </a:r>
            <a:r>
              <a:rPr dirty="0"/>
              <a:t> what applies</a:t>
            </a:r>
          </a:p>
          <a:p>
            <a:endParaRPr dirty="0"/>
          </a:p>
          <a:p>
            <a:pPr marL="0" indent="0">
              <a:buNone/>
            </a:pPr>
            <a:r>
              <a:rPr dirty="0">
                <a:solidFill>
                  <a:srgbClr val="FF0000"/>
                </a:solidFill>
              </a:rPr>
              <a:t>OUR PROPOSAL:</a:t>
            </a:r>
          </a:p>
          <a:p>
            <a:r>
              <a:rPr dirty="0"/>
              <a:t>Machine-readable FIRST, PDF</a:t>
            </a:r>
            <a:r>
              <a:rPr lang="de-DE" dirty="0"/>
              <a:t>/</a:t>
            </a:r>
            <a:r>
              <a:rPr lang="de-DE" dirty="0" err="1"/>
              <a:t>other</a:t>
            </a:r>
            <a:r>
              <a:rPr dirty="0"/>
              <a:t> second.</a:t>
            </a:r>
          </a:p>
          <a:p>
            <a:r>
              <a:rPr dirty="0"/>
              <a:t>The canonical source is structured data</a:t>
            </a:r>
            <a:r>
              <a:rPr lang="de-DE" dirty="0"/>
              <a:t> als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truth</a:t>
            </a:r>
            <a:endParaRPr dirty="0"/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F1082A-27B6-30DC-9FE7-DD832ED10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18" y="4506777"/>
            <a:ext cx="2859228" cy="1012540"/>
          </a:xfrm>
          <a:prstGeom prst="rect">
            <a:avLst/>
          </a:prstGeom>
        </p:spPr>
      </p:pic>
      <p:pic>
        <p:nvPicPr>
          <p:cNvPr id="6" name="Picture 5" descr="BSI - IT-Grundschutz">
            <a:extLst>
              <a:ext uri="{FF2B5EF4-FFF2-40B4-BE49-F238E27FC236}">
                <a16:creationId xmlns:a16="http://schemas.microsoft.com/office/drawing/2014/main" id="{6E4CCAA5-719B-E2B5-0EE6-284278774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72" y="4436773"/>
            <a:ext cx="1624822" cy="9775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226D47-646A-89B6-0FB8-F581EAA66638}"/>
              </a:ext>
            </a:extLst>
          </p:cNvPr>
          <p:cNvSpPr txBox="1"/>
          <p:nvPr/>
        </p:nvSpPr>
        <p:spPr>
          <a:xfrm>
            <a:off x="1274618" y="4673030"/>
            <a:ext cx="10079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          	 does it (OSCAL).                  adopted it.</a:t>
            </a:r>
          </a:p>
          <a:p>
            <a:endParaRPr lang="en-GB" sz="4000" dirty="0"/>
          </a:p>
          <a:p>
            <a:pPr algn="ctr"/>
            <a:r>
              <a:rPr lang="en-GB" sz="4000" dirty="0"/>
              <a:t>We bring it to rail: OSCAL4Rail.</a:t>
            </a:r>
            <a:endParaRPr lang="de-DE" sz="4000" dirty="0"/>
          </a:p>
        </p:txBody>
      </p:sp>
      <p:pic>
        <p:nvPicPr>
          <p:cNvPr id="7" name="Picture 6" descr="UIC and its members begin work on the OpenRail Foundation ...">
            <a:extLst>
              <a:ext uri="{FF2B5EF4-FFF2-40B4-BE49-F238E27FC236}">
                <a16:creationId xmlns:a16="http://schemas.microsoft.com/office/drawing/2014/main" id="{A13D5640-F600-AA2F-159A-C28A748D1C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059" y="5672222"/>
            <a:ext cx="1371600" cy="939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Standardization</a:t>
            </a:r>
            <a:r>
              <a:rPr lang="de-DE" dirty="0"/>
              <a:t>: </a:t>
            </a:r>
            <a:r>
              <a:rPr dirty="0"/>
              <a:t>OSCAL4Rail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9982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Lightweight profile of NIST OSCAL for railway regulations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Catalog </a:t>
            </a:r>
            <a:r>
              <a:rPr lang="de-DE" dirty="0"/>
              <a:t>		</a:t>
            </a:r>
            <a:r>
              <a:rPr dirty="0"/>
              <a:t> </a:t>
            </a:r>
            <a:r>
              <a:rPr lang="de-DE" dirty="0"/>
              <a:t>	</a:t>
            </a:r>
            <a:r>
              <a:rPr dirty="0"/>
              <a:t>Groups </a:t>
            </a:r>
            <a:r>
              <a:rPr lang="de-DE" dirty="0"/>
              <a:t>				</a:t>
            </a:r>
            <a:r>
              <a:rPr dirty="0"/>
              <a:t>Controls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dirty="0"/>
              <a:t>                  </a:t>
            </a:r>
            <a:r>
              <a:rPr lang="de-DE" dirty="0"/>
              <a:t>							</a:t>
            </a:r>
            <a:r>
              <a:rPr dirty="0"/>
              <a:t>One rule (verbatim</a:t>
            </a:r>
            <a:r>
              <a:rPr lang="de-CH" dirty="0"/>
              <a:t> </a:t>
            </a:r>
            <a:r>
              <a:rPr dirty="0"/>
              <a:t>text)</a:t>
            </a:r>
          </a:p>
          <a:p>
            <a:pPr marL="0" indent="0">
              <a:buNone/>
            </a:pPr>
            <a:r>
              <a:rPr dirty="0"/>
              <a:t>          </a:t>
            </a:r>
            <a:r>
              <a:rPr lang="de-DE" dirty="0"/>
              <a:t>	</a:t>
            </a:r>
            <a:r>
              <a:rPr dirty="0"/>
              <a:t> </a:t>
            </a:r>
            <a:r>
              <a:rPr lang="de-DE" dirty="0"/>
              <a:t>				</a:t>
            </a:r>
            <a:r>
              <a:rPr dirty="0"/>
              <a:t>One chapter</a:t>
            </a:r>
          </a:p>
          <a:p>
            <a:pPr marL="0" indent="0">
              <a:buNone/>
            </a:pPr>
            <a:r>
              <a:rPr dirty="0"/>
              <a:t> </a:t>
            </a:r>
            <a:r>
              <a:rPr lang="de-DE" dirty="0"/>
              <a:t>		</a:t>
            </a:r>
            <a:r>
              <a:rPr dirty="0"/>
              <a:t>One regulation</a:t>
            </a:r>
          </a:p>
          <a:p>
            <a:endParaRPr dirty="0"/>
          </a:p>
        </p:txBody>
      </p:sp>
      <p:sp>
        <p:nvSpPr>
          <p:cNvPr id="6" name="Bent Up Arrow 5">
            <a:extLst>
              <a:ext uri="{FF2B5EF4-FFF2-40B4-BE49-F238E27FC236}">
                <a16:creationId xmlns:a16="http://schemas.microsoft.com/office/drawing/2014/main" id="{C9A8700C-4511-6B02-6C20-FEE56495E247}"/>
              </a:ext>
            </a:extLst>
          </p:cNvPr>
          <p:cNvSpPr/>
          <p:nvPr/>
        </p:nvSpPr>
        <p:spPr>
          <a:xfrm rot="5400000">
            <a:off x="1638539" y="4420602"/>
            <a:ext cx="951471" cy="91440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Bent Up Arrow 6">
            <a:extLst>
              <a:ext uri="{FF2B5EF4-FFF2-40B4-BE49-F238E27FC236}">
                <a16:creationId xmlns:a16="http://schemas.microsoft.com/office/drawing/2014/main" id="{7B313AC3-B649-BEE5-6F2B-B5EDD2283236}"/>
              </a:ext>
            </a:extLst>
          </p:cNvPr>
          <p:cNvSpPr/>
          <p:nvPr/>
        </p:nvSpPr>
        <p:spPr>
          <a:xfrm rot="5400000">
            <a:off x="4373740" y="3828642"/>
            <a:ext cx="951472" cy="1089454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Bent Up Arrow 7">
            <a:extLst>
              <a:ext uri="{FF2B5EF4-FFF2-40B4-BE49-F238E27FC236}">
                <a16:creationId xmlns:a16="http://schemas.microsoft.com/office/drawing/2014/main" id="{C6C33A61-1A79-E04A-E3DB-152CB9AA07C4}"/>
              </a:ext>
            </a:extLst>
          </p:cNvPr>
          <p:cNvSpPr/>
          <p:nvPr/>
        </p:nvSpPr>
        <p:spPr>
          <a:xfrm rot="5400000">
            <a:off x="7592651" y="3667146"/>
            <a:ext cx="432607" cy="668295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Proof of Concept: BS-KI (Switzerland)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dirty="0" err="1"/>
              <a:t>Branchenstandard</a:t>
            </a:r>
            <a:r>
              <a:rPr dirty="0"/>
              <a:t> </a:t>
            </a:r>
            <a:r>
              <a:rPr dirty="0" err="1"/>
              <a:t>Kundeninformation</a:t>
            </a:r>
            <a:endParaRPr dirty="0"/>
          </a:p>
          <a:p>
            <a:r>
              <a:rPr dirty="0"/>
              <a:t>44 rules × 6 channels × 4 transport modes</a:t>
            </a:r>
            <a:endParaRPr lang="de-DE" dirty="0"/>
          </a:p>
          <a:p>
            <a:endParaRPr dirty="0"/>
          </a:p>
          <a:p>
            <a:pPr marL="0" indent="0">
              <a:buNone/>
            </a:pPr>
            <a:r>
              <a:rPr dirty="0"/>
              <a:t>What we did:</a:t>
            </a:r>
            <a:endParaRPr lang="de-DE" dirty="0"/>
          </a:p>
          <a:p>
            <a:r>
              <a:rPr dirty="0"/>
              <a:t>Excel matrix → parsed deterministically</a:t>
            </a:r>
          </a:p>
          <a:p>
            <a:r>
              <a:rPr dirty="0"/>
              <a:t>PDF (64 pages) → chapter-level text extraction</a:t>
            </a:r>
          </a:p>
          <a:p>
            <a:r>
              <a:rPr dirty="0"/>
              <a:t>Combined → one OSCAL Catalog YAML</a:t>
            </a:r>
          </a:p>
          <a:p>
            <a:r>
              <a:rPr dirty="0"/>
              <a:t>Validated against NIST JSON Schema ✅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What changed between 2024 and 2025?</a:t>
            </a:r>
          </a:p>
          <a:p>
            <a:pPr marL="0" indent="0">
              <a:buNone/>
            </a:pPr>
            <a:r>
              <a:rPr dirty="0"/>
              <a:t>→ git diff. Done.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Versioning &amp;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Because it's in Git</a:t>
            </a:r>
            <a:r>
              <a:rPr lang="de-DE" dirty="0"/>
              <a:t> and </a:t>
            </a:r>
            <a:r>
              <a:rPr lang="de-DE" dirty="0" err="1"/>
              <a:t>Json</a:t>
            </a:r>
            <a:r>
              <a:rPr lang="de-DE" dirty="0"/>
              <a:t>/Schema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Full version history of every rule</a:t>
            </a:r>
          </a:p>
          <a:p>
            <a:r>
              <a:rPr dirty="0"/>
              <a:t>Diff: what changed, when, by whom</a:t>
            </a:r>
          </a:p>
          <a:p>
            <a:r>
              <a:rPr dirty="0"/>
              <a:t>Rollback: revert to any previous state</a:t>
            </a:r>
          </a:p>
          <a:p>
            <a:r>
              <a:rPr dirty="0"/>
              <a:t>Audit trail: who approved what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No more: "Which version is current?"</a:t>
            </a:r>
          </a:p>
          <a:p>
            <a:pPr marL="0" indent="0">
              <a:buNone/>
            </a:pPr>
            <a:r>
              <a:rPr dirty="0"/>
              <a:t>No more: "What exactly changed in §4.2?"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4EF61CF-21D7-3ADA-7DD3-32153FADE9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3908" y="1555751"/>
            <a:ext cx="4621212" cy="46212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Steps: Establishing the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1134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dirty="0"/>
              <a:t>1. Start with IT/ITS regulations</a:t>
            </a:r>
            <a:r>
              <a:rPr lang="de-DE" dirty="0"/>
              <a:t> </a:t>
            </a:r>
            <a:r>
              <a:rPr dirty="0"/>
              <a:t>(already structured, digital-native)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	- </a:t>
            </a:r>
            <a:r>
              <a:rPr lang="de-DE" dirty="0" err="1"/>
              <a:t>Verify</a:t>
            </a:r>
            <a:r>
              <a:rPr lang="de-DE" dirty="0"/>
              <a:t> </a:t>
            </a:r>
            <a:r>
              <a:rPr lang="de-DE" dirty="0" err="1"/>
              <a:t>automated</a:t>
            </a:r>
            <a:r>
              <a:rPr lang="de-DE" dirty="0"/>
              <a:t> </a:t>
            </a:r>
            <a:r>
              <a:rPr lang="de-DE" dirty="0" err="1"/>
              <a:t>creation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schemata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governance</a:t>
            </a:r>
            <a:r>
              <a:rPr lang="de-DE" dirty="0"/>
              <a:t> </a:t>
            </a:r>
            <a:r>
              <a:rPr lang="de-DE" dirty="0" err="1"/>
              <a:t>owners</a:t>
            </a:r>
            <a:endParaRPr dirty="0"/>
          </a:p>
          <a:p>
            <a:endParaRPr dirty="0"/>
          </a:p>
          <a:p>
            <a:pPr marL="0" indent="0">
              <a:buNone/>
            </a:pPr>
            <a:r>
              <a:rPr dirty="0"/>
              <a:t>2. Web editor that behaves like Word</a:t>
            </a:r>
            <a:r>
              <a:rPr lang="de-DE" dirty="0"/>
              <a:t> </a:t>
            </a:r>
            <a:r>
              <a:rPr dirty="0"/>
              <a:t>(low learning curve for </a:t>
            </a:r>
            <a:r>
              <a:rPr lang="de-DE" dirty="0"/>
              <a:t>non </a:t>
            </a:r>
            <a:r>
              <a:rPr lang="de-DE" dirty="0" err="1"/>
              <a:t>technical</a:t>
            </a:r>
            <a:r>
              <a:rPr lang="de-DE" dirty="0"/>
              <a:t> </a:t>
            </a:r>
            <a:r>
              <a:rPr dirty="0"/>
              <a:t>governance owners)</a:t>
            </a:r>
          </a:p>
          <a:p>
            <a:endParaRPr dirty="0"/>
          </a:p>
          <a:p>
            <a:pPr marL="0" indent="0">
              <a:buNone/>
            </a:pPr>
            <a:r>
              <a:rPr lang="de-DE" dirty="0"/>
              <a:t>3.</a:t>
            </a:r>
            <a:r>
              <a:rPr dirty="0"/>
              <a:t> Import existing governance documents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	</a:t>
            </a:r>
            <a:r>
              <a:rPr dirty="0"/>
              <a:t>→ validate → publish as OSCAL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4. Expand: safety regulations, cross-border (TSI),</a:t>
            </a:r>
            <a:r>
              <a:rPr lang="de-DE" dirty="0"/>
              <a:t> </a:t>
            </a:r>
            <a:r>
              <a:rPr dirty="0"/>
              <a:t>operational rules</a:t>
            </a:r>
          </a:p>
          <a:p>
            <a:endParaRPr dirty="0"/>
          </a:p>
          <a:p>
            <a:pPr marL="0" indent="0" algn="ctr">
              <a:buNone/>
            </a:pPr>
            <a:endParaRPr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6D0452-0439-E6B7-5E7E-A087D02FF2EA}"/>
              </a:ext>
            </a:extLst>
          </p:cNvPr>
          <p:cNvSpPr txBox="1"/>
          <p:nvPr/>
        </p:nvSpPr>
        <p:spPr>
          <a:xfrm>
            <a:off x="976184" y="5436973"/>
            <a:ext cx="98483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Little change in workflow. Massive gain in usability.</a:t>
            </a:r>
          </a:p>
          <a:p>
            <a:pPr algn="ctr"/>
            <a:r>
              <a:rPr lang="en-GB" sz="2800" dirty="0"/>
              <a:t>→ Cross-railway interoperability (DB / SBB / ÖBB / SCNF / …)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┌──────────────┐     ┌─────────────┐     ┌──────────────┐</a:t>
            </a:r>
          </a:p>
          <a:p>
            <a:r>
              <a:rPr dirty="0"/>
              <a:t>│ Web Editor   │ ──► │ OSCAL4Rail  │ ──► │ PDF (view)   │</a:t>
            </a:r>
          </a:p>
          <a:p>
            <a:r>
              <a:rPr dirty="0"/>
              <a:t>│ (looks like  │     │ (canonical  │     │ API (machine)│</a:t>
            </a:r>
          </a:p>
          <a:p>
            <a:r>
              <a:rPr dirty="0"/>
              <a:t>│  Word)       │     │  source)    │     │ Diff/Change  │</a:t>
            </a:r>
          </a:p>
          <a:p>
            <a:r>
              <a:rPr dirty="0"/>
              <a:t>└──────────────┘     └─────────────┘     └──────────────┘</a:t>
            </a:r>
          </a:p>
          <a:p>
            <a:endParaRPr dirty="0"/>
          </a:p>
          <a:p>
            <a:r>
              <a:rPr dirty="0"/>
              <a:t>Governance owners keep writing like they always have.</a:t>
            </a:r>
          </a:p>
          <a:p>
            <a:r>
              <a:rPr dirty="0"/>
              <a:t>But the output is structured, versioned, machine-readable.</a:t>
            </a:r>
          </a:p>
          <a:p>
            <a:endParaRPr dirty="0"/>
          </a:p>
          <a:p>
            <a:r>
              <a:rPr dirty="0"/>
              <a:t>→ Automated compliance checks</a:t>
            </a:r>
          </a:p>
          <a:p>
            <a:r>
              <a:rPr dirty="0"/>
              <a:t>→ Bridge to ACA: contracts validated against regulations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t"/>
          <a:lstStyle/>
          <a:p>
            <a:r>
              <a:rPr dirty="0"/>
              <a:t>OSCAL4Rail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31818" y="2601119"/>
            <a:ext cx="9144000" cy="3134518"/>
          </a:xfrm>
        </p:spPr>
        <p:txBody>
          <a:bodyPr>
            <a:normAutofit lnSpcReduction="10000"/>
          </a:bodyPr>
          <a:lstStyle/>
          <a:p>
            <a:r>
              <a:rPr dirty="0"/>
              <a:t>Machine-readable governance for railways.</a:t>
            </a:r>
          </a:p>
          <a:p>
            <a:endParaRPr dirty="0"/>
          </a:p>
          <a:p>
            <a:r>
              <a:rPr dirty="0"/>
              <a:t>Who makes the rules? Humans.</a:t>
            </a:r>
          </a:p>
          <a:p>
            <a:r>
              <a:rPr dirty="0"/>
              <a:t>How we publish, version, and compare them?</a:t>
            </a:r>
          </a:p>
          <a:p>
            <a:r>
              <a:rPr dirty="0"/>
              <a:t>That's a machine's job.</a:t>
            </a:r>
          </a:p>
          <a:p>
            <a:endParaRPr dirty="0"/>
          </a:p>
          <a:p>
            <a:r>
              <a:rPr dirty="0"/>
              <a:t>Starting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6_H4R_PPTMaster" id="{A8D19306-7F92-3741-8E9B-1996A972416B}" vid="{4B0AC7A3-DE22-B748-A902-9C1F40428DB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895299445B8C4DB378BBB718B1F939" ma:contentTypeVersion="18" ma:contentTypeDescription="Ein neues Dokument erstellen." ma:contentTypeScope="" ma:versionID="ca18c32604eb9eb075bdd5b520f76d7f">
  <xsd:schema xmlns:xsd="http://www.w3.org/2001/XMLSchema" xmlns:xs="http://www.w3.org/2001/XMLSchema" xmlns:p="http://schemas.microsoft.com/office/2006/metadata/properties" xmlns:ns2="b106c448-c3d1-41cc-8fd9-3acb307364b4" xmlns:ns3="b043894e-b4c8-44d0-9690-d7947297ac19" targetNamespace="http://schemas.microsoft.com/office/2006/metadata/properties" ma:root="true" ma:fieldsID="0e0a0918b2fa3636e306fde1bc5c258b" ns2:_="" ns3:_="">
    <xsd:import namespace="b106c448-c3d1-41cc-8fd9-3acb307364b4"/>
    <xsd:import namespace="b043894e-b4c8-44d0-9690-d7947297ac1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Copyright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06c448-c3d1-41cc-8fd9-3acb307364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f80f6d38-43b1-4def-ac06-3ce7426a3aa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Copyright" ma:index="23" nillable="true" ma:displayName="Copyright" ma:description="Quellenangabe" ma:format="Dropdown" ma:internalName="Copyright">
      <xsd:simpleType>
        <xsd:restriction base="dms:Text">
          <xsd:maxLength value="255"/>
        </xsd:restriction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43894e-b4c8-44d0-9690-d7947297ac1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hidden="true" ma:internalName="SharedWithDetails" ma:readOnly="true">
      <xsd:simpleType>
        <xsd:restriction base="dms:Note"/>
      </xsd:simpleType>
    </xsd:element>
    <xsd:element name="TaxCatchAll" ma:index="14" nillable="true" ma:displayName="Taxonomy Catch All Column" ma:hidden="true" ma:list="{d38ad991-424d-4a22-91ec-88ad21543f30}" ma:internalName="TaxCatchAll" ma:readOnly="false" ma:showField="CatchAllData" ma:web="b043894e-b4c8-44d0-9690-d7947297ac1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pyright xmlns="b106c448-c3d1-41cc-8fd9-3acb307364b4" xsi:nil="true"/>
    <lcf76f155ced4ddcb4097134ff3c332f xmlns="b106c448-c3d1-41cc-8fd9-3acb307364b4">
      <Terms xmlns="http://schemas.microsoft.com/office/infopath/2007/PartnerControls"/>
    </lcf76f155ced4ddcb4097134ff3c332f>
    <TaxCatchAll xmlns="b043894e-b4c8-44d0-9690-d7947297ac1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BED3A9D-D1E4-45EA-8B49-CB6F60C2A9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06c448-c3d1-41cc-8fd9-3acb307364b4"/>
    <ds:schemaRef ds:uri="b043894e-b4c8-44d0-9690-d7947297ac1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6D2420F-AFAE-4394-AC5D-D74FCC39CD53}">
  <ds:schemaRefs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b043894e-b4c8-44d0-9690-d7947297ac19"/>
    <ds:schemaRef ds:uri="http://schemas.microsoft.com/office/2006/documentManagement/types"/>
    <ds:schemaRef ds:uri="b106c448-c3d1-41cc-8fd9-3acb307364b4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7CF5FD6-43E2-4C9A-9372-C9D60EE1772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cda0c22-3e77-43b9-8faf-0bad2baf7893}" enabled="1" method="Standard" siteId="{085c0b65-6a84-4006-851e-5faa7ec5367e}" contentBits="2" removed="0"/>
  <clbl:label id="{3dac9f92-1d4e-4aae-b975-a9900684008d}" enabled="1" method="Standard" siteId="{a1a72d9c-49e6-4f6d-9af6-5aafa1183bf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514</Words>
  <Application>Microsoft Macintosh PowerPoint</Application>
  <PresentationFormat>Breitbild</PresentationFormat>
  <Paragraphs>85</Paragraphs>
  <Slides>9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</vt:lpstr>
      <vt:lpstr>A 38</vt:lpstr>
      <vt:lpstr>The Problem</vt:lpstr>
      <vt:lpstr>The Paradigm Shift</vt:lpstr>
      <vt:lpstr>Idea for Standardization: OSCAL4Rail</vt:lpstr>
      <vt:lpstr>Proof of Concept: BS-KI (Switzerland)</vt:lpstr>
      <vt:lpstr>Versioning &amp; History</vt:lpstr>
      <vt:lpstr>Next Steps: Establishing the Standard</vt:lpstr>
      <vt:lpstr>The Vision</vt:lpstr>
      <vt:lpstr>OSCAL4Rail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Grote</dc:creator>
  <cp:lastModifiedBy>Simon Nölle</cp:lastModifiedBy>
  <cp:revision>7</cp:revision>
  <dcterms:created xsi:type="dcterms:W3CDTF">2026-06-23T13:11:35Z</dcterms:created>
  <dcterms:modified xsi:type="dcterms:W3CDTF">2026-06-23T15:54:01Z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ac9f92-1d4e-4aae-b975-a9900684008d_Enabled">
    <vt:lpwstr>true</vt:lpwstr>
  </property>
  <property fmtid="{D5CDD505-2E9C-101B-9397-08002B2CF9AE}" pid="3" name="MSIP_Label_3dac9f92-1d4e-4aae-b975-a9900684008d_SetDate">
    <vt:lpwstr>2025-06-16T07:21:58Z</vt:lpwstr>
  </property>
  <property fmtid="{D5CDD505-2E9C-101B-9397-08002B2CF9AE}" pid="4" name="MSIP_Label_3dac9f92-1d4e-4aae-b975-a9900684008d_Method">
    <vt:lpwstr>Standard</vt:lpwstr>
  </property>
  <property fmtid="{D5CDD505-2E9C-101B-9397-08002B2CF9AE}" pid="5" name="MSIP_Label_3dac9f92-1d4e-4aae-b975-a9900684008d_Name">
    <vt:lpwstr>DB Intern</vt:lpwstr>
  </property>
  <property fmtid="{D5CDD505-2E9C-101B-9397-08002B2CF9AE}" pid="6" name="MSIP_Label_3dac9f92-1d4e-4aae-b975-a9900684008d_SiteId">
    <vt:lpwstr>a1a72d9c-49e6-4f6d-9af6-5aafa1183bfd</vt:lpwstr>
  </property>
  <property fmtid="{D5CDD505-2E9C-101B-9397-08002B2CF9AE}" pid="7" name="MSIP_Label_3dac9f92-1d4e-4aae-b975-a9900684008d_ActionId">
    <vt:lpwstr>bb24dd71-d472-4ddc-9b15-9c5081759944</vt:lpwstr>
  </property>
  <property fmtid="{D5CDD505-2E9C-101B-9397-08002B2CF9AE}" pid="8" name="MSIP_Label_3dac9f92-1d4e-4aae-b975-a9900684008d_ContentBits">
    <vt:lpwstr>1</vt:lpwstr>
  </property>
  <property fmtid="{D5CDD505-2E9C-101B-9397-08002B2CF9AE}" pid="9" name="ClassificationContentMarkingHeaderLocations">
    <vt:lpwstr>Office:9</vt:lpwstr>
  </property>
  <property fmtid="{D5CDD505-2E9C-101B-9397-08002B2CF9AE}" pid="10" name="ClassificationContentMarkingHeaderText">
    <vt:lpwstr>          DB Intern / DB internal</vt:lpwstr>
  </property>
  <property fmtid="{D5CDD505-2E9C-101B-9397-08002B2CF9AE}" pid="11" name="ContentTypeId">
    <vt:lpwstr>0x010100C5895299445B8C4DB378BBB718B1F939</vt:lpwstr>
  </property>
  <property fmtid="{D5CDD505-2E9C-101B-9397-08002B2CF9AE}" pid="12" name="ClassificationContentMarkingFooterLocations">
    <vt:lpwstr>Office:9</vt:lpwstr>
  </property>
  <property fmtid="{D5CDD505-2E9C-101B-9397-08002B2CF9AE}" pid="13" name="ClassificationContentMarkingFooterText">
    <vt:lpwstr>TLP gelb (Adressatenkreis)</vt:lpwstr>
  </property>
</Properties>
</file>