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6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0F720-8D32-6BAD-8FC7-55C3EC778F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C8C2146-660A-AE7C-0329-D018D311B3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5171BE-FD78-76A8-6B80-48367763E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B6DB5D-D71E-108F-466B-F91D2C807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EC3ADE4-6B4C-F03A-045E-F6F055DAA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0440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4DD735-BDD1-94F6-947C-3B25372A2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B9D8038-CC07-BF42-C180-8213F6092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B5BDC6-CB74-9C08-B136-A4BC672E4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169B60-6007-2DBA-498D-F9DD35632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8B44393-FFCD-986E-BD72-B043CB54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233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F18F37-2345-A019-5A40-FCFC1B65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864E25-78F6-D8C8-4927-DE8FD5D08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A7F423-0307-C9C0-64D9-B44A22DAB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9067E8B-CE77-7EB1-A96D-E6233E35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5B2ECE-5BD1-3A50-8A0C-C7377678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7053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CEEA1-3EDA-9C07-C68A-B91F45D1E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FB1FBE-ACB9-17CF-35FE-F544523B8D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1BE1FF5-D165-C3D9-D009-54088DA2C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7DBB3C3-4B11-A8D5-FFC8-5D5EA1F77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C073DF-35D5-F739-65B9-A57A2F2F1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B04A1FD-63C3-0251-81C3-FE9BEA5EA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520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990512-17C2-7AF1-E6AB-0FCF669BE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2C6E44D-923F-EED5-A232-69A34590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A6F1B74-D075-1C08-1133-1FF3F0EA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E7FD04D-9D7B-F3EC-5939-F6F1B80200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BB85E1D-824B-FBD1-48C6-4AEA385826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C4EE23-62B7-2ADF-BDD6-16EBA027B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AD14211-2778-80B5-09A7-D692AF677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4CE239C4-616C-C451-0F5D-E6E42A7CB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88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23389-CF91-D54F-1BF0-E835245EE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E46169B-829B-590E-E9AC-4F7E08D9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033D54-559D-C62E-4A4B-ACC5B365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2CABE68-C7F2-6F9B-E453-D3661FFB0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233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20E3135-8B3B-54AC-85DC-D91FD0DC5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D6C95FA-FD79-8400-617F-FA55B36B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9B5510F-2C87-7BD6-9F43-0531D639C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756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183582-0F38-B1B0-EF23-B1DE29E84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D2929C-C896-607D-BFD1-1B99E8B18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3CF0998-1E97-ACA5-EA0D-B4EE0654B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AD9FEF5-1005-2970-CE12-A0C0CDB3C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679C54-569B-0D21-0EFB-237FC789E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B40808-4539-2A37-5A17-CC1F436D8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6376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B77623-19B5-91DE-F760-E886DBEAE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67D6CE4-044E-8380-AB10-2590AEC8C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7CB0F65-BCCD-F72F-1905-1095C7DF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84837F0-EE1A-7981-C710-9A818DA87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A226F3F-B5B3-2C74-F02D-3E401C009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35C8464-AB5F-231E-0165-6640E224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06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519370-FC31-BA4E-6845-33A053DBF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DAC76CE-BA41-D293-E213-79C6E60A9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50960E-8F1C-2BB9-FAF0-81A292C5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09603-E9D8-19AA-E598-29E1050D8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D0CC994-479E-32BA-1C9D-DEA19D5B3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296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81C970BE-25B3-EFF7-7DE9-41209FEC58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581558-0B33-6026-F9EA-CD06BF61A4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B87AC9-5C5C-35B5-4B5C-AB6B36800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020FAC1-04C2-DBED-815F-F2F20C396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8C25C6-03BF-BA3C-18D7-63B209565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294165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D4C124E-7B17-B2FD-9D2F-DDB0A07A7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44BF6DF-E280-5E3C-E0DE-8013715D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BA836C-2514-E8BA-CA51-983C4515C4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E09B6B-B446-416C-B509-27F8143F0A75}" type="datetimeFigureOut">
              <a:rPr lang="de-DE" smtClean="0"/>
              <a:t>24.06.26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12B1274-0C59-E38E-FEC9-32A44E98E7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DDCA194-377F-8AA7-C447-59152C00A8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371D93-8784-4C02-8B2C-86355AB378F9}" type="slidenum">
              <a:rPr lang="de-DE" smtClean="0"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15ED750F-FEF0-BA89-6E3E-9D360462EBB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25" t="30189" r="27702" b="16855"/>
          <a:stretch>
            <a:fillRect/>
          </a:stretch>
        </p:blipFill>
        <p:spPr>
          <a:xfrm>
            <a:off x="11415316" y="301923"/>
            <a:ext cx="635608" cy="919557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84C0BF6E-8C64-0D33-64D6-403B3BB23C4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46843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AT" sz="1000">
                <a:solidFill>
                  <a:srgbClr val="FFC000">
                    <a:alpha val="50000"/>
                  </a:srgbClr>
                </a:solidFill>
                <a:latin typeface="Aptos" panose="020B0004020202020204" pitchFamily="34" charset="0"/>
              </a:rPr>
              <a:t>TLP gelb (Adressatenkreis)</a:t>
            </a:r>
          </a:p>
        </p:txBody>
      </p:sp>
    </p:spTree>
    <p:extLst>
      <p:ext uri="{BB962C8B-B14F-4D97-AF65-F5344CB8AC3E}">
        <p14:creationId xmlns:p14="http://schemas.microsoft.com/office/powerpoint/2010/main" val="250561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jens.grote@deutschebahn.com" TargetMode="External"/><Relationship Id="rId3" Type="http://schemas.openxmlformats.org/officeDocument/2006/relationships/hyperlink" Target="mailto:Jonathan.wolf@deutschebahn.com" TargetMode="External"/><Relationship Id="rId4" Type="http://schemas.openxmlformats.org/officeDocument/2006/relationships/hyperlink" Target="mailto:Simon.Freihart@sbb.ch" TargetMode="External"/><Relationship Id="rId5" Type="http://schemas.openxmlformats.org/officeDocument/2006/relationships/hyperlink" Target="mailto:Rebeca.Perez@sbb.ch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E9B84F-0F35-1B3B-6454-317804BB93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61712"/>
          </a:xfrm>
          <a:ln>
            <a:solidFill>
              <a:schemeClr val="bg1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r>
              <a:rPr lang="de-DE" i="1" dirty="0"/>
              <a:t>Who </a:t>
            </a:r>
            <a:r>
              <a:rPr lang="de-DE" i="1" dirty="0" err="1"/>
              <a:t>Makes</a:t>
            </a:r>
            <a:r>
              <a:rPr lang="de-DE" i="1" dirty="0"/>
              <a:t> The Rules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E2D0B35-9A39-00CE-1798-D62A0767A5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45200"/>
            <a:ext cx="9144000" cy="714240"/>
          </a:xfr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>
            <a:normAutofit/>
          </a:bodyPr>
          <a:lstStyle/>
          <a:p>
            <a:r>
              <a:rPr lang="de-DE" sz="4000" i="1" dirty="0"/>
              <a:t>A38</a:t>
            </a:r>
          </a:p>
          <a:p>
            <a:endParaRPr lang="de-DE" sz="1400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BCA5DF11-3593-789C-55EF-11E2E5BAE3A1}"/>
              </a:ext>
            </a:extLst>
          </p:cNvPr>
          <p:cNvSpPr txBox="1"/>
          <p:nvPr/>
        </p:nvSpPr>
        <p:spPr>
          <a:xfrm>
            <a:off x="2382328" y="5020366"/>
            <a:ext cx="7427343" cy="1015663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wrap="square" anchor="ctr">
            <a:spAutoFit/>
          </a:bodyPr>
          <a:lstStyle/>
          <a:p>
            <a:pPr algn="ctr"/>
            <a:r>
              <a:rPr lang="en-US" b="1" u="sng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Team Member (max. 7)</a:t>
            </a:r>
            <a:br>
              <a:rPr lang="de-DE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jens.grote@deutschebahn.com</a:t>
            </a:r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de-DE" sz="1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Jonathan.wolf@deutschebahn.com</a:t>
            </a:r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de-DE" sz="14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6092527D-5A9F-2BDD-F98A-5089F1433D44}"/>
              </a:ext>
            </a:extLst>
          </p:cNvPr>
          <p:cNvSpPr txBox="1">
            <a:spLocks/>
          </p:cNvSpPr>
          <p:nvPr/>
        </p:nvSpPr>
        <p:spPr>
          <a:xfrm>
            <a:off x="2382328" y="2265780"/>
            <a:ext cx="7427343" cy="810883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  <a:prstDash val="solid"/>
          </a:ln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800" b="1" u="sng" dirty="0">
                <a:solidFill>
                  <a:srgbClr val="FF0000"/>
                </a:solidFill>
              </a:rPr>
              <a:t>Challenge</a:t>
            </a:r>
            <a:r>
              <a:rPr lang="de-DE" sz="1800" i="1" u="sng" dirty="0"/>
              <a:t> </a:t>
            </a:r>
            <a:r>
              <a:rPr lang="de-DE" sz="1800" b="1" u="sng" dirty="0">
                <a:solidFill>
                  <a:srgbClr val="FF0000"/>
                </a:solidFill>
              </a:rPr>
              <a:t>Owner</a:t>
            </a:r>
          </a:p>
          <a:p>
            <a:r>
              <a:rPr lang="de-DE" sz="1400" i="1" dirty="0">
                <a:hlinkClick r:id="rId4"/>
              </a:rPr>
              <a:t>Simon.Freihart@sbb.ch</a:t>
            </a:r>
            <a:endParaRPr lang="de-DE" sz="1400" i="1" dirty="0"/>
          </a:p>
          <a:p>
            <a:r>
              <a:rPr lang="de-DE" sz="1400" i="1" dirty="0">
                <a:hlinkClick r:id="rId5"/>
              </a:rPr>
              <a:t>Rebeca.Perez@sbb.ch</a:t>
            </a:r>
            <a:endParaRPr lang="de-DE" sz="1400" i="1" dirty="0"/>
          </a:p>
        </p:txBody>
      </p:sp>
    </p:spTree>
    <p:extLst>
      <p:ext uri="{BB962C8B-B14F-4D97-AF65-F5344CB8AC3E}">
        <p14:creationId xmlns:p14="http://schemas.microsoft.com/office/powerpoint/2010/main" val="3702960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88D74A-B9AF-7B4F-EE38-4F7AE3D10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0427"/>
            <a:ext cx="4800600" cy="682831"/>
          </a:xfrm>
        </p:spPr>
        <p:txBody>
          <a:bodyPr>
            <a:normAutofit/>
          </a:bodyPr>
          <a:lstStyle/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Challenge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is the problem/idea? What is the current status? </a:t>
            </a:r>
            <a:br>
              <a:rPr lang="en-US" sz="1050" b="0" i="0" dirty="0">
                <a:solidFill>
                  <a:srgbClr val="334155"/>
                </a:solidFill>
                <a:effectLst/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23258"/>
            <a:ext cx="4800600" cy="3418113"/>
          </a:xfrm>
          <a:ln>
            <a:solidFill>
              <a:schemeClr val="tx1"/>
            </a:solidFill>
            <a:prstDash val="solid"/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1100" dirty="0"/>
              <a:t>Railway regulations are scattered across heterogeneous PDF/Word documents. Nobody can efficiently find the relevant rule. Changes between versions are invisible. Rules are free text – and worse: they are interpreted by individuals based on their personal context, leading to inconsistent, non-deterministic application across organisations and countries.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0E04B64-2B0F-4488-F7DB-D130FB158C88}"/>
              </a:ext>
            </a:extLst>
          </p:cNvPr>
          <p:cNvSpPr txBox="1">
            <a:spLocks/>
          </p:cNvSpPr>
          <p:nvPr/>
        </p:nvSpPr>
        <p:spPr>
          <a:xfrm>
            <a:off x="6096000" y="340427"/>
            <a:ext cx="4800600" cy="682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400" b="1" i="0" dirty="0">
                <a:solidFill>
                  <a:srgbClr val="0F172A"/>
                </a:solidFill>
                <a:effectLst/>
              </a:rPr>
              <a:t>Description of the Solution or Idea</a:t>
            </a:r>
            <a:br>
              <a:rPr lang="en-US" sz="14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What are the key features of the solution?</a:t>
            </a:r>
            <a:br>
              <a:rPr lang="en-US" sz="1050" b="0" dirty="0">
                <a:solidFill>
                  <a:srgbClr val="334155"/>
                </a:solidFill>
              </a:rPr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Focus on important/central points.</a:t>
            </a:r>
            <a:endParaRPr lang="de-DE" sz="1050" dirty="0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1B26CFB6-BB7B-94F9-1697-4AE03EAED08B}"/>
              </a:ext>
            </a:extLst>
          </p:cNvPr>
          <p:cNvSpPr txBox="1">
            <a:spLocks/>
          </p:cNvSpPr>
          <p:nvPr/>
        </p:nvSpPr>
        <p:spPr>
          <a:xfrm>
            <a:off x="6096000" y="1023258"/>
            <a:ext cx="4800600" cy="3418113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100" dirty="0"/>
              <a:t>OSCAL4Rail – a lightweight profile of the NIST OSCAL standard adapted for railway regulations. Deterministic extraction pipeline: PDF + Excel matrix → validated, machine-readable YAML catalog. Every rule is verbatim-quoted, schema-validated, and diffable across versions.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6CAA227-9BDB-311F-5B8C-1B6C90C5C92D}"/>
              </a:ext>
            </a:extLst>
          </p:cNvPr>
          <p:cNvSpPr txBox="1">
            <a:spLocks/>
          </p:cNvSpPr>
          <p:nvPr/>
        </p:nvSpPr>
        <p:spPr>
          <a:xfrm>
            <a:off x="838200" y="4618513"/>
            <a:ext cx="4800600" cy="3453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de-DE" sz="1050" dirty="0"/>
              <a:t>Project Links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DA2B7333-BA37-8832-8093-B6B2565C42F7}"/>
              </a:ext>
            </a:extLst>
          </p:cNvPr>
          <p:cNvSpPr txBox="1">
            <a:spLocks/>
          </p:cNvSpPr>
          <p:nvPr/>
        </p:nvSpPr>
        <p:spPr>
          <a:xfrm>
            <a:off x="838200" y="4963886"/>
            <a:ext cx="10058400" cy="1194458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GitHub Repository: https://github.com/OpenRail-Playground/A38</a:t>
            </a:r>
          </a:p>
          <a:p>
            <a:r>
              <a:rPr lang="de-DE" sz="1100" dirty="0"/>
              <a:t>Demo: python3 validate.py (validates catalog against NIST OSCAL schema)</a:t>
            </a:r>
          </a:p>
          <a:p>
            <a:r>
              <a:rPr lang="de-DE" sz="1100" dirty="0"/>
              <a:t>Further Links: https://pages.nist.gov/OSCAL/</a:t>
            </a:r>
          </a:p>
        </p:txBody>
      </p:sp>
    </p:spTree>
    <p:extLst>
      <p:ext uri="{BB962C8B-B14F-4D97-AF65-F5344CB8AC3E}">
        <p14:creationId xmlns:p14="http://schemas.microsoft.com/office/powerpoint/2010/main" val="3159751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FEE62-D06A-3360-CD18-284FEB2D23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080000"/>
            <a:ext cx="4659086" cy="756000"/>
          </a:xfrm>
          <a:ln>
            <a:solidFill>
              <a:schemeClr val="tx1"/>
            </a:solidFill>
            <a:prstDash val="solid"/>
          </a:ln>
        </p:spPr>
        <p:txBody>
          <a:bodyPr anchor="t">
            <a:normAutofit/>
          </a:bodyPr>
          <a:lstStyle/>
          <a:p>
            <a:r>
              <a:rPr lang="de-DE" sz="1100" dirty="0"/>
              <a:t>Standards bodies (KKI, BAV), railway companies (SBB, DB, OeBB, SNCF), compliance teams, IT departments implementing passenger information systems.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C8EBD656-5719-FFA2-4DB2-23C82B73AF33}"/>
              </a:ext>
            </a:extLst>
          </p:cNvPr>
          <p:cNvSpPr txBox="1">
            <a:spLocks/>
          </p:cNvSpPr>
          <p:nvPr/>
        </p:nvSpPr>
        <p:spPr>
          <a:xfrm>
            <a:off x="6096000" y="432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existing alternatives to the solution?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A67A1D-1775-47EB-C6B8-2D1F646A844D}"/>
              </a:ext>
            </a:extLst>
          </p:cNvPr>
          <p:cNvSpPr txBox="1">
            <a:spLocks/>
          </p:cNvSpPr>
          <p:nvPr/>
        </p:nvSpPr>
        <p:spPr>
          <a:xfrm>
            <a:off x="6096000" y="2487751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Manual PDF reading, proprietary compliance tools. No open standard for railway regulations exists.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D75E147C-01D1-6200-5FBB-F978E79FAFC5}"/>
              </a:ext>
            </a:extLst>
          </p:cNvPr>
          <p:cNvSpPr txBox="1">
            <a:spLocks/>
          </p:cNvSpPr>
          <p:nvPr/>
        </p:nvSpPr>
        <p:spPr>
          <a:xfrm>
            <a:off x="6096000" y="1980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Which alternatives are out of the question and why?</a:t>
            </a:r>
            <a:endParaRPr lang="en-US" sz="1200" b="0" i="0" dirty="0">
              <a:solidFill>
                <a:srgbClr val="334155"/>
              </a:solidFill>
              <a:effectLst/>
            </a:endParaRP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46AD8C6D-6739-4A20-FAF8-129BA6D9A943}"/>
              </a:ext>
            </a:extLst>
          </p:cNvPr>
          <p:cNvSpPr txBox="1">
            <a:spLocks/>
          </p:cNvSpPr>
          <p:nvPr/>
        </p:nvSpPr>
        <p:spPr>
          <a:xfrm>
            <a:off x="6096000" y="3888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Reduced compliance effort: automated change tracking eliminates manual document comparison. Faster implementation of regulation updates across systems.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C5E17B89-BB80-BC4F-02DE-52C4353EEF26}"/>
              </a:ext>
            </a:extLst>
          </p:cNvPr>
          <p:cNvSpPr txBox="1">
            <a:spLocks/>
          </p:cNvSpPr>
          <p:nvPr/>
        </p:nvSpPr>
        <p:spPr>
          <a:xfrm>
            <a:off x="6096000" y="3384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Are there any foreseeable risks, hurdles or dependencies, how needs to be considered?</a:t>
            </a:r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8DEF7993-621B-F41E-42B0-07562CA64420}"/>
              </a:ext>
            </a:extLst>
          </p:cNvPr>
          <p:cNvSpPr txBox="1">
            <a:spLocks/>
          </p:cNvSpPr>
          <p:nvPr/>
        </p:nvSpPr>
        <p:spPr>
          <a:xfrm>
            <a:off x="720000" y="1080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Proprietary formats (vendor lock-in). Pure LLM extraction without validation (non-deterministic, not auditable).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82EBA07A-803A-2B20-781C-957925F7AC17}"/>
              </a:ext>
            </a:extLst>
          </p:cNvPr>
          <p:cNvSpPr txBox="1">
            <a:spLocks/>
          </p:cNvSpPr>
          <p:nvPr/>
        </p:nvSpPr>
        <p:spPr>
          <a:xfrm>
            <a:off x="671073" y="432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Who are the user groups of the described solution?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Internal/external user groups (e.g., business sectors, b2c / b2b customers, etc.)</a:t>
            </a:r>
          </a:p>
        </p:txBody>
      </p:sp>
      <p:sp>
        <p:nvSpPr>
          <p:cNvPr id="18" name="Inhaltsplatzhalter 2">
            <a:extLst>
              <a:ext uri="{FF2B5EF4-FFF2-40B4-BE49-F238E27FC236}">
                <a16:creationId xmlns:a16="http://schemas.microsoft.com/office/drawing/2014/main" id="{6F790A49-DBE7-BB71-372E-B6300615545B}"/>
              </a:ext>
            </a:extLst>
          </p:cNvPr>
          <p:cNvSpPr txBox="1">
            <a:spLocks/>
          </p:cNvSpPr>
          <p:nvPr/>
        </p:nvSpPr>
        <p:spPr>
          <a:xfrm>
            <a:off x="720000" y="2487751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Interoperability between railway companies. Faster adoption of new standards. Transparency for passengers (consistent information across borders).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2EFC0D03-EAAB-E48E-D53A-8E21A7B89478}"/>
              </a:ext>
            </a:extLst>
          </p:cNvPr>
          <p:cNvSpPr txBox="1">
            <a:spLocks/>
          </p:cNvSpPr>
          <p:nvPr/>
        </p:nvSpPr>
        <p:spPr>
          <a:xfrm>
            <a:off x="720000" y="1980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economic benefit?</a:t>
            </a:r>
            <a:br>
              <a:rPr lang="en-US" sz="105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reduction in compensation costs</a:t>
            </a:r>
          </a:p>
        </p:txBody>
      </p:sp>
      <p:sp>
        <p:nvSpPr>
          <p:cNvPr id="20" name="Inhaltsplatzhalter 2">
            <a:extLst>
              <a:ext uri="{FF2B5EF4-FFF2-40B4-BE49-F238E27FC236}">
                <a16:creationId xmlns:a16="http://schemas.microsoft.com/office/drawing/2014/main" id="{C349F8FA-312E-48E4-ADF1-216DFEEA2856}"/>
              </a:ext>
            </a:extLst>
          </p:cNvPr>
          <p:cNvSpPr txBox="1">
            <a:spLocks/>
          </p:cNvSpPr>
          <p:nvPr/>
        </p:nvSpPr>
        <p:spPr>
          <a:xfrm>
            <a:off x="720000" y="3888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Adoption requires buy-in from standards bodies. Regulations must keep stable chapter numbering. Multi-language support (DE/FR/IT) needs further work.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E0B90121-88D0-65FC-24AE-1554BFE5A22C}"/>
              </a:ext>
            </a:extLst>
          </p:cNvPr>
          <p:cNvSpPr txBox="1">
            <a:spLocks/>
          </p:cNvSpPr>
          <p:nvPr/>
        </p:nvSpPr>
        <p:spPr>
          <a:xfrm>
            <a:off x="720000" y="3384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positive impacts on the rail system?</a:t>
            </a:r>
            <a:br>
              <a:rPr lang="en-US" sz="1200" dirty="0"/>
            </a:br>
            <a:r>
              <a:rPr lang="en-US" sz="1050" b="0" i="0" dirty="0">
                <a:solidFill>
                  <a:srgbClr val="334155"/>
                </a:solidFill>
                <a:effectLst/>
              </a:rPr>
              <a:t>E.g., attractiveness of rail transport, ecological impacts, ...</a:t>
            </a:r>
          </a:p>
        </p:txBody>
      </p:sp>
      <p:sp>
        <p:nvSpPr>
          <p:cNvPr id="22" name="Inhaltsplatzhalter 2">
            <a:extLst>
              <a:ext uri="{FF2B5EF4-FFF2-40B4-BE49-F238E27FC236}">
                <a16:creationId xmlns:a16="http://schemas.microsoft.com/office/drawing/2014/main" id="{EE5432D6-8783-990A-BDDD-EC7623D9AD50}"/>
              </a:ext>
            </a:extLst>
          </p:cNvPr>
          <p:cNvSpPr txBox="1">
            <a:spLocks/>
          </p:cNvSpPr>
          <p:nvPr/>
        </p:nvSpPr>
        <p:spPr>
          <a:xfrm>
            <a:off x="720000" y="5292000"/>
            <a:ext cx="4680000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NIST OSCAL: mature (v1.1.3, used in US government). OSCAL4Rail profile: prototype (Hack4Rail 2026). Python tooling: production-ready libraries.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4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C10CABC-15CE-2C83-2BB3-BE4A5E7CBB62}"/>
              </a:ext>
            </a:extLst>
          </p:cNvPr>
          <p:cNvSpPr txBox="1">
            <a:spLocks/>
          </p:cNvSpPr>
          <p:nvPr/>
        </p:nvSpPr>
        <p:spPr>
          <a:xfrm>
            <a:off x="720000" y="4788000"/>
            <a:ext cx="4680000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is the maturity level of the technologies used?</a:t>
            </a:r>
          </a:p>
          <a:p>
            <a:r>
              <a:rPr lang="en-US" sz="1050" b="0" i="0" dirty="0">
                <a:solidFill>
                  <a:srgbClr val="334155"/>
                </a:solidFill>
                <a:effectLst/>
              </a:rPr>
              <a:t>May depends on the railway company.</a:t>
            </a:r>
          </a:p>
        </p:txBody>
      </p:sp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FAF55115-9F61-5DD4-AC88-88CEAA176C07}"/>
              </a:ext>
            </a:extLst>
          </p:cNvPr>
          <p:cNvSpPr txBox="1">
            <a:spLocks/>
          </p:cNvSpPr>
          <p:nvPr/>
        </p:nvSpPr>
        <p:spPr>
          <a:xfrm>
            <a:off x="6096000" y="5292000"/>
            <a:ext cx="4659086" cy="756000"/>
          </a:xfrm>
          <a:prstGeom prst="rect">
            <a:avLst/>
          </a:prstGeom>
          <a:ln>
            <a:solidFill>
              <a:schemeClr val="tx1"/>
            </a:solidFill>
            <a:prstDash val="solid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100" dirty="0"/>
              <a:t>May depend on the railway company.</a:t>
            </a:r>
            <a:r>
              <a:rPr lang="de-DE" sz="1050" dirty="0" err="1"/>
              <a:t/>
            </a:r>
            <a:r>
              <a:rPr lang="de-DE" sz="1050" dirty="0"/>
              <a:t/>
            </a:r>
            <a:r>
              <a:rPr lang="de-DE" sz="1050" dirty="0" err="1"/>
              <a:t/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</p:txBody>
      </p:sp>
      <p:sp>
        <p:nvSpPr>
          <p:cNvPr id="25" name="Titel 1">
            <a:extLst>
              <a:ext uri="{FF2B5EF4-FFF2-40B4-BE49-F238E27FC236}">
                <a16:creationId xmlns:a16="http://schemas.microsoft.com/office/drawing/2014/main" id="{515965EC-1208-909E-5806-BD13D9D7D16F}"/>
              </a:ext>
            </a:extLst>
          </p:cNvPr>
          <p:cNvSpPr txBox="1">
            <a:spLocks/>
          </p:cNvSpPr>
          <p:nvPr/>
        </p:nvSpPr>
        <p:spPr>
          <a:xfrm>
            <a:off x="6096000" y="4788000"/>
            <a:ext cx="4659086" cy="396000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are the next Steps? </a:t>
            </a:r>
          </a:p>
          <a:p>
            <a:r>
              <a:rPr lang="en-US" sz="1200" b="1" i="0" dirty="0">
                <a:solidFill>
                  <a:srgbClr val="0F172A"/>
                </a:solidFill>
                <a:effectLst/>
              </a:rPr>
              <a:t>What do you need to implement the solution?</a:t>
            </a:r>
          </a:p>
        </p:txBody>
      </p:sp>
    </p:spTree>
    <p:extLst>
      <p:ext uri="{BB962C8B-B14F-4D97-AF65-F5344CB8AC3E}">
        <p14:creationId xmlns:p14="http://schemas.microsoft.com/office/powerpoint/2010/main" val="2338891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5895299445B8C4DB378BBB718B1F939" ma:contentTypeVersion="17" ma:contentTypeDescription="Ein neues Dokument erstellen." ma:contentTypeScope="" ma:versionID="efa937a253b8a0ad253458d0295c9a6c">
  <xsd:schema xmlns:xsd="http://www.w3.org/2001/XMLSchema" xmlns:xs="http://www.w3.org/2001/XMLSchema" xmlns:p="http://schemas.microsoft.com/office/2006/metadata/properties" xmlns:ns2="b106c448-c3d1-41cc-8fd9-3acb307364b4" xmlns:ns3="b043894e-b4c8-44d0-9690-d7947297ac19" targetNamespace="http://schemas.microsoft.com/office/2006/metadata/properties" ma:root="true" ma:fieldsID="af1e72e99746a9a12b0b64b9fe407f72" ns2:_="" ns3:_="">
    <xsd:import namespace="b106c448-c3d1-41cc-8fd9-3acb307364b4"/>
    <xsd:import namespace="b043894e-b4c8-44d0-9690-d7947297ac19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Copyrigh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06c448-c3d1-41cc-8fd9-3acb307364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f80f6d38-43b1-4def-ac06-3ce7426a3a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Copyright" ma:index="23" nillable="true" ma:displayName="Copyright" ma:description="Quellenangabe" ma:format="Dropdown" ma:internalName="Copyrigh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3894e-b4c8-44d0-9690-d7947297ac19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hidden="true" ma:internalName="SharedWithDetails" ma:readOnly="true">
      <xsd:simpleType>
        <xsd:restriction base="dms:Note"/>
      </xsd:simpleType>
    </xsd:element>
    <xsd:element name="TaxCatchAll" ma:index="14" nillable="true" ma:displayName="Taxonomy Catch All Column" ma:hidden="true" ma:list="{d38ad991-424d-4a22-91ec-88ad21543f30}" ma:internalName="TaxCatchAll" ma:readOnly="false" ma:showField="CatchAllData" ma:web="b043894e-b4c8-44d0-9690-d7947297ac1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Inhaltstyp"/>
        <xsd:element ref="dc:title" minOccurs="0" maxOccurs="1" ma:index="1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pyright xmlns="b106c448-c3d1-41cc-8fd9-3acb307364b4" xsi:nil="true"/>
    <lcf76f155ced4ddcb4097134ff3c332f xmlns="b106c448-c3d1-41cc-8fd9-3acb307364b4">
      <Terms xmlns="http://schemas.microsoft.com/office/infopath/2007/PartnerControls"/>
    </lcf76f155ced4ddcb4097134ff3c332f>
    <TaxCatchAll xmlns="b043894e-b4c8-44d0-9690-d7947297ac19" xsi:nil="true"/>
  </documentManagement>
</p:properties>
</file>

<file path=customXml/itemProps1.xml><?xml version="1.0" encoding="utf-8"?>
<ds:datastoreItem xmlns:ds="http://schemas.openxmlformats.org/officeDocument/2006/customXml" ds:itemID="{5DD488EB-8795-4A31-B76F-16B318CFE1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4D14693-25A4-4C1A-ABDC-E6E0CFF1A69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106c448-c3d1-41cc-8fd9-3acb307364b4"/>
    <ds:schemaRef ds:uri="b043894e-b4c8-44d0-9690-d7947297ac1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3B6C51-77D4-4F63-A8EC-8C7A763498FB}">
  <ds:schemaRefs>
    <ds:schemaRef ds:uri="http://schemas.microsoft.com/office/2006/metadata/properties"/>
    <ds:schemaRef ds:uri="http://schemas.microsoft.com/office/infopath/2007/PartnerControls"/>
    <ds:schemaRef ds:uri="b106c448-c3d1-41cc-8fd9-3acb307364b4"/>
    <ds:schemaRef ds:uri="b043894e-b4c8-44d0-9690-d7947297ac19"/>
  </ds:schemaRefs>
</ds:datastoreItem>
</file>

<file path=docMetadata/LabelInfo.xml><?xml version="1.0" encoding="utf-8"?>
<clbl:labelList xmlns:clbl="http://schemas.microsoft.com/office/2020/mipLabelMetadata">
  <clbl:label id="{0cda0c22-3e77-43b9-8faf-0bad2baf7893}" enabled="1" method="Standard" siteId="{085c0b65-6a84-4006-851e-5faa7ec5367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270</Words>
  <Application>Microsoft Macintosh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</vt:lpstr>
      <vt:lpstr>Who Makes The Rules</vt:lpstr>
      <vt:lpstr>Description of the Challenge What is the problem/idea? What is the current status?  Focus on important/central points.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Strauß</dc:creator>
  <cp:lastModifiedBy>Jens Grote</cp:lastModifiedBy>
  <cp:revision>7</cp:revision>
  <dcterms:created xsi:type="dcterms:W3CDTF">2025-06-16T07:18:47Z</dcterms:created>
  <dcterms:modified xsi:type="dcterms:W3CDTF">2026-06-24T08:10:52Z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dac9f92-1d4e-4aae-b975-a9900684008d_Enabled">
    <vt:lpwstr>true</vt:lpwstr>
  </property>
  <property fmtid="{D5CDD505-2E9C-101B-9397-08002B2CF9AE}" pid="3" name="MSIP_Label_3dac9f92-1d4e-4aae-b975-a9900684008d_SetDate">
    <vt:lpwstr>2025-06-16T07:21:58Z</vt:lpwstr>
  </property>
  <property fmtid="{D5CDD505-2E9C-101B-9397-08002B2CF9AE}" pid="4" name="MSIP_Label_3dac9f92-1d4e-4aae-b975-a9900684008d_Method">
    <vt:lpwstr>Standard</vt:lpwstr>
  </property>
  <property fmtid="{D5CDD505-2E9C-101B-9397-08002B2CF9AE}" pid="5" name="MSIP_Label_3dac9f92-1d4e-4aae-b975-a9900684008d_Name">
    <vt:lpwstr>DB Intern</vt:lpwstr>
  </property>
  <property fmtid="{D5CDD505-2E9C-101B-9397-08002B2CF9AE}" pid="6" name="MSIP_Label_3dac9f92-1d4e-4aae-b975-a9900684008d_SiteId">
    <vt:lpwstr>a1a72d9c-49e6-4f6d-9af6-5aafa1183bfd</vt:lpwstr>
  </property>
  <property fmtid="{D5CDD505-2E9C-101B-9397-08002B2CF9AE}" pid="7" name="MSIP_Label_3dac9f92-1d4e-4aae-b975-a9900684008d_ActionId">
    <vt:lpwstr>bb24dd71-d472-4ddc-9b15-9c5081759944</vt:lpwstr>
  </property>
  <property fmtid="{D5CDD505-2E9C-101B-9397-08002B2CF9AE}" pid="8" name="MSIP_Label_3dac9f92-1d4e-4aae-b975-a9900684008d_ContentBits">
    <vt:lpwstr>1</vt:lpwstr>
  </property>
  <property fmtid="{D5CDD505-2E9C-101B-9397-08002B2CF9AE}" pid="9" name="ClassificationContentMarkingHeaderLocations">
    <vt:lpwstr>Office:9</vt:lpwstr>
  </property>
  <property fmtid="{D5CDD505-2E9C-101B-9397-08002B2CF9AE}" pid="10" name="ClassificationContentMarkingHeaderText">
    <vt:lpwstr>          DB Intern / DB internal</vt:lpwstr>
  </property>
  <property fmtid="{D5CDD505-2E9C-101B-9397-08002B2CF9AE}" pid="11" name="ContentTypeId">
    <vt:lpwstr>0x010100C5895299445B8C4DB378BBB718B1F939</vt:lpwstr>
  </property>
  <property fmtid="{D5CDD505-2E9C-101B-9397-08002B2CF9AE}" pid="12" name="ClassificationContentMarkingFooterLocations">
    <vt:lpwstr>Office:12</vt:lpwstr>
  </property>
  <property fmtid="{D5CDD505-2E9C-101B-9397-08002B2CF9AE}" pid="13" name="ClassificationContentMarkingFooterText">
    <vt:lpwstr>TLP gelb (Adressatenkreis)</vt:lpwstr>
  </property>
</Properties>
</file>