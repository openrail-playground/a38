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ED750F-FEF0-BA89-6E3E-9D360462EBB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25" t="30189" r="27702" b="16855"/>
          <a:stretch>
            <a:fillRect/>
          </a:stretch>
        </p:blipFill>
        <p:spPr>
          <a:xfrm>
            <a:off x="11415316" y="301923"/>
            <a:ext cx="635608" cy="91955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84C0BF6E-8C64-0D33-64D6-403B3BB23C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4684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AT" sz="1000">
                <a:solidFill>
                  <a:srgbClr val="FFC000">
                    <a:alpha val="50000"/>
                  </a:srgbClr>
                </a:solidFill>
                <a:latin typeface="Aptos" panose="020B0004020202020204" pitchFamily="34" charset="0"/>
              </a:rPr>
              <a:t>TLP gelb (Adressatenkreis)</a:t>
            </a:r>
          </a:p>
        </p:txBody>
      </p:sp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Jonathan.wolf@deutschebahn.com" TargetMode="External"/><Relationship Id="rId2" Type="http://schemas.openxmlformats.org/officeDocument/2006/relationships/hyperlink" Target="mailto:jens.grote@deutschebahn.com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Rebeca.Perez@sbb.ch" TargetMode="External"/><Relationship Id="rId4" Type="http://schemas.openxmlformats.org/officeDocument/2006/relationships/hyperlink" Target="mailto:Simon.Freihart@sbb.ch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E9B84F-0F35-1B3B-6454-317804BB93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61712"/>
          </a:xfrm>
          <a:ln>
            <a:solidFill>
              <a:schemeClr val="bg1">
                <a:lumMod val="50000"/>
              </a:schemeClr>
            </a:solidFill>
          </a:ln>
        </p:spPr>
        <p:txBody>
          <a:bodyPr>
            <a:normAutofit fontScale="90000"/>
          </a:bodyPr>
          <a:lstStyle/>
          <a:p>
            <a:r>
              <a:rPr lang="de-DE" i="1" dirty="0"/>
              <a:t>Who </a:t>
            </a:r>
            <a:r>
              <a:rPr lang="de-DE" i="1" dirty="0" err="1"/>
              <a:t>Makes</a:t>
            </a:r>
            <a:r>
              <a:rPr lang="de-DE" i="1" dirty="0"/>
              <a:t> The Rules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E2D0B35-9A39-00CE-1798-D62A0767A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45200"/>
            <a:ext cx="9144000" cy="714240"/>
          </a:xfrm>
          <a:ln>
            <a:solidFill>
              <a:schemeClr val="bg1">
                <a:lumMod val="50000"/>
              </a:schemeClr>
            </a:solidFill>
            <a:prstDash val="solid"/>
          </a:ln>
        </p:spPr>
        <p:txBody>
          <a:bodyPr>
            <a:normAutofit/>
          </a:bodyPr>
          <a:lstStyle/>
          <a:p>
            <a:r>
              <a:rPr lang="de-DE" sz="4000" i="1" dirty="0"/>
              <a:t>A38</a:t>
            </a:r>
          </a:p>
          <a:p>
            <a:endParaRPr lang="de-DE" sz="1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A5DF11-3593-789C-55EF-11E2E5BAE3A1}"/>
              </a:ext>
            </a:extLst>
          </p:cNvPr>
          <p:cNvSpPr txBox="1"/>
          <p:nvPr/>
        </p:nvSpPr>
        <p:spPr>
          <a:xfrm>
            <a:off x="2382328" y="5020366"/>
            <a:ext cx="7427343" cy="1015663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olid"/>
          </a:ln>
        </p:spPr>
        <p:txBody>
          <a:bodyPr wrap="square" anchor="ctr">
            <a:spAutoFit/>
          </a:bodyPr>
          <a:lstStyle/>
          <a:p>
            <a:pPr algn="ctr"/>
            <a:r>
              <a:rPr lang="en-US" b="1" u="sng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Member (max. 7)</a:t>
            </a:r>
            <a:br>
              <a:rPr lang="de-DE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jens.grote@deutschebahn.com</a:t>
            </a:r>
            <a:endParaRPr lang="de-DE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de-DE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Jonathan.wolf@deutschebahn.com</a:t>
            </a:r>
            <a:endParaRPr lang="de-DE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de-DE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6092527D-5A9F-2BDD-F98A-5089F1433D44}"/>
              </a:ext>
            </a:extLst>
          </p:cNvPr>
          <p:cNvSpPr txBox="1">
            <a:spLocks/>
          </p:cNvSpPr>
          <p:nvPr/>
        </p:nvSpPr>
        <p:spPr>
          <a:xfrm>
            <a:off x="2382328" y="2265780"/>
            <a:ext cx="7427343" cy="81088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prstDash val="solid"/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b="1" u="sng" dirty="0">
                <a:solidFill>
                  <a:srgbClr val="FF0000"/>
                </a:solidFill>
              </a:rPr>
              <a:t>Challenge</a:t>
            </a:r>
            <a:r>
              <a:rPr lang="de-DE" sz="1800" i="1" u="sng" dirty="0"/>
              <a:t> </a:t>
            </a:r>
            <a:r>
              <a:rPr lang="de-DE" sz="1800" b="1" u="sng" dirty="0">
                <a:solidFill>
                  <a:srgbClr val="FF0000"/>
                </a:solidFill>
              </a:rPr>
              <a:t>Owner</a:t>
            </a:r>
          </a:p>
          <a:p>
            <a:r>
              <a:rPr lang="de-DE" sz="1400" i="1" dirty="0">
                <a:hlinkClick r:id="rId4"/>
              </a:rPr>
              <a:t>Simon.Freihart@sbb.ch</a:t>
            </a:r>
            <a:endParaRPr lang="de-DE" sz="1400" i="1" dirty="0"/>
          </a:p>
          <a:p>
            <a:r>
              <a:rPr lang="de-DE" sz="1400" i="1" dirty="0">
                <a:hlinkClick r:id="rId5"/>
              </a:rPr>
              <a:t>Rebeca.Perez@sbb.ch</a:t>
            </a:r>
            <a:endParaRPr lang="de-DE" sz="1400" i="1" dirty="0"/>
          </a:p>
        </p:txBody>
      </p:sp>
    </p:spTree>
    <p:extLst>
      <p:ext uri="{BB962C8B-B14F-4D97-AF65-F5344CB8AC3E}">
        <p14:creationId xmlns:p14="http://schemas.microsoft.com/office/powerpoint/2010/main" val="3702960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88D74A-B9AF-7B4F-EE38-4F7AE3D10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427"/>
            <a:ext cx="4800600" cy="682831"/>
          </a:xfrm>
        </p:spPr>
        <p:txBody>
          <a:bodyPr>
            <a:normAutofit/>
          </a:bodyPr>
          <a:lstStyle/>
          <a:p>
            <a:r>
              <a:rPr lang="en-US" sz="1400" b="1" i="0" dirty="0">
                <a:solidFill>
                  <a:srgbClr val="0F172A"/>
                </a:solidFill>
                <a:effectLst/>
              </a:rPr>
              <a:t>Description of the Challenge</a:t>
            </a:r>
            <a:br>
              <a:rPr lang="en-US" sz="14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What is the problem/idea? What is the current status? </a:t>
            </a:r>
            <a:br>
              <a:rPr lang="en-US" sz="1050" b="0" i="0" dirty="0">
                <a:solidFill>
                  <a:srgbClr val="334155"/>
                </a:solidFill>
                <a:effectLst/>
              </a:rPr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Focus on important/central points.</a:t>
            </a:r>
            <a:endParaRPr lang="de-DE" sz="105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4FEE62-D06A-3360-CD18-284FEB2D2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3258"/>
            <a:ext cx="4800600" cy="3418113"/>
          </a:xfrm>
          <a:ln>
            <a:solidFill>
              <a:schemeClr val="tx1"/>
            </a:solidFill>
            <a:prstDash val="solid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/>
              <a:t>Railway regulations are scattered across heterogeneous PDF/Word documents. </a:t>
            </a:r>
          </a:p>
          <a:p>
            <a:pPr marL="0" indent="0">
              <a:buNone/>
            </a:pPr>
            <a:r>
              <a:rPr lang="de-DE" sz="1600" dirty="0"/>
              <a:t>Nobody can efficiently find the relevant rule. Changes between versions are invisible. </a:t>
            </a:r>
          </a:p>
          <a:p>
            <a:pPr marL="0" indent="0">
              <a:buNone/>
            </a:pPr>
            <a:r>
              <a:rPr lang="de-DE" sz="1600" dirty="0"/>
              <a:t>Rules are free text – and worse: they are interpreted by individuals based on their personal context, leading to inconsistent, non-deterministic application across organisations and countries.</a:t>
            </a:r>
            <a:endParaRPr lang="de-DE" sz="1400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0E04B64-2B0F-4488-F7DB-D130FB158C88}"/>
              </a:ext>
            </a:extLst>
          </p:cNvPr>
          <p:cNvSpPr txBox="1">
            <a:spLocks/>
          </p:cNvSpPr>
          <p:nvPr/>
        </p:nvSpPr>
        <p:spPr>
          <a:xfrm>
            <a:off x="6096000" y="340427"/>
            <a:ext cx="4800600" cy="6828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400" b="1" i="0" dirty="0">
                <a:solidFill>
                  <a:srgbClr val="0F172A"/>
                </a:solidFill>
                <a:effectLst/>
              </a:rPr>
              <a:t>Description of the Solution or Idea</a:t>
            </a:r>
            <a:br>
              <a:rPr lang="en-US" sz="14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What are the key features of the solution?</a:t>
            </a:r>
            <a:br>
              <a:rPr lang="en-US" sz="1050" b="0" dirty="0">
                <a:solidFill>
                  <a:srgbClr val="334155"/>
                </a:solidFill>
              </a:rPr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Focus on important/central points.</a:t>
            </a:r>
            <a:endParaRPr lang="de-DE" sz="105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B26CFB6-BB7B-94F9-1697-4AE03EAED08B}"/>
              </a:ext>
            </a:extLst>
          </p:cNvPr>
          <p:cNvSpPr txBox="1">
            <a:spLocks/>
          </p:cNvSpPr>
          <p:nvPr/>
        </p:nvSpPr>
        <p:spPr>
          <a:xfrm>
            <a:off x="6096000" y="1023258"/>
            <a:ext cx="4800600" cy="3418113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600" dirty="0"/>
              <a:t>OSCAL4Rail – a lightweight profile of the NIST OSCAL standard adapted for railway regulations. </a:t>
            </a:r>
          </a:p>
          <a:p>
            <a:pPr marL="0" indent="0">
              <a:buNone/>
            </a:pPr>
            <a:r>
              <a:rPr lang="de-DE" sz="1600" dirty="0" err="1"/>
              <a:t>Deterministic</a:t>
            </a:r>
            <a:r>
              <a:rPr lang="de-DE" sz="1600" dirty="0"/>
              <a:t> extraction pipeline: PDF + Excel matrix → validated, machine-readable YAML catalog. </a:t>
            </a:r>
          </a:p>
          <a:p>
            <a:pPr marL="0" indent="0">
              <a:buNone/>
            </a:pPr>
            <a:r>
              <a:rPr lang="de-DE" sz="1600" dirty="0"/>
              <a:t>Every rule is verbatim-quoted, schema-validated, and diffable across versions.</a:t>
            </a:r>
            <a:endParaRPr lang="de-DE" sz="1400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6CAA227-9BDB-311F-5B8C-1B6C90C5C92D}"/>
              </a:ext>
            </a:extLst>
          </p:cNvPr>
          <p:cNvSpPr txBox="1">
            <a:spLocks/>
          </p:cNvSpPr>
          <p:nvPr/>
        </p:nvSpPr>
        <p:spPr>
          <a:xfrm>
            <a:off x="838200" y="4618513"/>
            <a:ext cx="4800600" cy="3453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 sz="1050" dirty="0"/>
              <a:t>Project Links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DA2B7333-BA37-8832-8093-B6B2565C42F7}"/>
              </a:ext>
            </a:extLst>
          </p:cNvPr>
          <p:cNvSpPr txBox="1">
            <a:spLocks/>
          </p:cNvSpPr>
          <p:nvPr/>
        </p:nvSpPr>
        <p:spPr>
          <a:xfrm>
            <a:off x="838200" y="4963886"/>
            <a:ext cx="10058400" cy="1194458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GitHub Repository: https://github.com/OpenRail-Playground/A38/</a:t>
            </a:r>
            <a:r>
              <a:rPr lang="de-DE" sz="1100" dirty="0" err="1"/>
              <a:t>whomakestherules</a:t>
            </a:r>
            <a:endParaRPr lang="de-DE" sz="1100" dirty="0"/>
          </a:p>
          <a:p>
            <a:r>
              <a:rPr lang="de-DE" sz="1100" dirty="0"/>
              <a:t>Demo: python3 validate.py (validates catalog against NIST OSCAL schema)</a:t>
            </a:r>
          </a:p>
          <a:p>
            <a:r>
              <a:rPr lang="de-DE" sz="1100" dirty="0"/>
              <a:t>Further Links: https://pages.nist.gov/OSCAL/</a:t>
            </a:r>
          </a:p>
        </p:txBody>
      </p:sp>
    </p:spTree>
    <p:extLst>
      <p:ext uri="{BB962C8B-B14F-4D97-AF65-F5344CB8AC3E}">
        <p14:creationId xmlns:p14="http://schemas.microsoft.com/office/powerpoint/2010/main" val="3159751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4FEE62-D06A-3360-CD18-284FEB2D2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080000"/>
            <a:ext cx="4659086" cy="756000"/>
          </a:xfrm>
          <a:ln>
            <a:solidFill>
              <a:schemeClr val="tx1"/>
            </a:solidFill>
            <a:prstDash val="solid"/>
          </a:ln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de-DE" sz="1100" dirty="0"/>
              <a:t>Standards bodies (KKI, BAV), railway companies (SBB, DB, OeBB, SNCF), compliance teams, IT departments implementing passenger information systems.</a:t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C8EBD656-5719-FFA2-4DB2-23C82B73AF33}"/>
              </a:ext>
            </a:extLst>
          </p:cNvPr>
          <p:cNvSpPr txBox="1">
            <a:spLocks/>
          </p:cNvSpPr>
          <p:nvPr/>
        </p:nvSpPr>
        <p:spPr>
          <a:xfrm>
            <a:off x="6096000" y="432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Are there any existing alternatives to the solution?</a:t>
            </a:r>
            <a:endParaRPr lang="en-US" sz="1200" b="0" i="0" dirty="0">
              <a:solidFill>
                <a:srgbClr val="334155"/>
              </a:solidFill>
              <a:effectLst/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5AA67A1D-1775-47EB-C6B8-2D1F646A844D}"/>
              </a:ext>
            </a:extLst>
          </p:cNvPr>
          <p:cNvSpPr txBox="1">
            <a:spLocks/>
          </p:cNvSpPr>
          <p:nvPr/>
        </p:nvSpPr>
        <p:spPr>
          <a:xfrm>
            <a:off x="6096000" y="2487751"/>
            <a:ext cx="4659086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Manual PDF reading, proprietary compliance tools. No open standard for railway regulations exists.</a:t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D75E147C-01D1-6200-5FBB-F978E79FAFC5}"/>
              </a:ext>
            </a:extLst>
          </p:cNvPr>
          <p:cNvSpPr txBox="1">
            <a:spLocks/>
          </p:cNvSpPr>
          <p:nvPr/>
        </p:nvSpPr>
        <p:spPr>
          <a:xfrm>
            <a:off x="6096000" y="1980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Which alternatives are out of the question and why?</a:t>
            </a:r>
            <a:endParaRPr lang="en-US" sz="1200" b="0" i="0" dirty="0">
              <a:solidFill>
                <a:srgbClr val="334155"/>
              </a:solidFill>
              <a:effectLst/>
            </a:endParaRP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46AD8C6D-6739-4A20-FAF8-129BA6D9A943}"/>
              </a:ext>
            </a:extLst>
          </p:cNvPr>
          <p:cNvSpPr txBox="1">
            <a:spLocks/>
          </p:cNvSpPr>
          <p:nvPr/>
        </p:nvSpPr>
        <p:spPr>
          <a:xfrm>
            <a:off x="6096000" y="3888000"/>
            <a:ext cx="4659086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Reduced compliance effort: automated change tracking eliminates manual document comparison. Faster implementation of regulation updates across systems.</a:t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C5E17B89-BB80-BC4F-02DE-52C4353EEF26}"/>
              </a:ext>
            </a:extLst>
          </p:cNvPr>
          <p:cNvSpPr txBox="1">
            <a:spLocks/>
          </p:cNvSpPr>
          <p:nvPr/>
        </p:nvSpPr>
        <p:spPr>
          <a:xfrm>
            <a:off x="6096000" y="3384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Are there any foreseeable risks, hurdles or dependencies, how needs to be considered?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8DEF7993-621B-F41E-42B0-07562CA64420}"/>
              </a:ext>
            </a:extLst>
          </p:cNvPr>
          <p:cNvSpPr txBox="1">
            <a:spLocks/>
          </p:cNvSpPr>
          <p:nvPr/>
        </p:nvSpPr>
        <p:spPr>
          <a:xfrm>
            <a:off x="720000" y="1080000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Proprietary formats (vendor lock-in). Pure LLM extraction without validation (non-deterministic, not auditable).</a:t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82EBA07A-803A-2B20-781C-957925F7AC17}"/>
              </a:ext>
            </a:extLst>
          </p:cNvPr>
          <p:cNvSpPr txBox="1">
            <a:spLocks/>
          </p:cNvSpPr>
          <p:nvPr/>
        </p:nvSpPr>
        <p:spPr>
          <a:xfrm>
            <a:off x="671073" y="432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Who are the user groups of the described solution?</a:t>
            </a:r>
            <a:br>
              <a:rPr lang="en-US" sz="12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Internal/external user groups (e.g., business sectors, b2c / b2b customers, etc.)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6F790A49-DBE7-BB71-372E-B6300615545B}"/>
              </a:ext>
            </a:extLst>
          </p:cNvPr>
          <p:cNvSpPr txBox="1">
            <a:spLocks/>
          </p:cNvSpPr>
          <p:nvPr/>
        </p:nvSpPr>
        <p:spPr>
          <a:xfrm>
            <a:off x="720000" y="2487751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Interoperability between railway companies. Faster adoption of new standards. Transparency for passengers (consistent information across borders).</a:t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2EFC0D03-EAAB-E48E-D53A-8E21A7B89478}"/>
              </a:ext>
            </a:extLst>
          </p:cNvPr>
          <p:cNvSpPr txBox="1">
            <a:spLocks/>
          </p:cNvSpPr>
          <p:nvPr/>
        </p:nvSpPr>
        <p:spPr>
          <a:xfrm>
            <a:off x="720000" y="1980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is the economic benefit?</a:t>
            </a:r>
            <a:br>
              <a:rPr lang="en-US" sz="105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E.g., reduction in compensation costs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349F8FA-312E-48E4-ADF1-216DFEEA2856}"/>
              </a:ext>
            </a:extLst>
          </p:cNvPr>
          <p:cNvSpPr txBox="1">
            <a:spLocks/>
          </p:cNvSpPr>
          <p:nvPr/>
        </p:nvSpPr>
        <p:spPr>
          <a:xfrm>
            <a:off x="720000" y="3888000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Adoption requires buy-in from standards bodies. Regulations must keep stable chapter numbering. Multi-language support (DE/FR/IT) needs further work.</a:t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21" name="Titel 1">
            <a:extLst>
              <a:ext uri="{FF2B5EF4-FFF2-40B4-BE49-F238E27FC236}">
                <a16:creationId xmlns:a16="http://schemas.microsoft.com/office/drawing/2014/main" id="{E0B90121-88D0-65FC-24AE-1554BFE5A22C}"/>
              </a:ext>
            </a:extLst>
          </p:cNvPr>
          <p:cNvSpPr txBox="1">
            <a:spLocks/>
          </p:cNvSpPr>
          <p:nvPr/>
        </p:nvSpPr>
        <p:spPr>
          <a:xfrm>
            <a:off x="720000" y="3384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are the positive impacts on the rail system?</a:t>
            </a:r>
            <a:br>
              <a:rPr lang="en-US" sz="12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E.g., attractiveness of rail transport, ecological impacts, ...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EE5432D6-8783-990A-BDDD-EC7623D9AD50}"/>
              </a:ext>
            </a:extLst>
          </p:cNvPr>
          <p:cNvSpPr txBox="1">
            <a:spLocks/>
          </p:cNvSpPr>
          <p:nvPr/>
        </p:nvSpPr>
        <p:spPr>
          <a:xfrm>
            <a:off x="720000" y="5292000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NIST OSCAL: mature (v1.1.3, used in US government). OSCAL4Rail profile: prototype (Hack4Rail 2026). Python tooling: production-ready libraries.</a:t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7C10CABC-15CE-2C83-2BB3-BE4A5E7CBB62}"/>
              </a:ext>
            </a:extLst>
          </p:cNvPr>
          <p:cNvSpPr txBox="1">
            <a:spLocks/>
          </p:cNvSpPr>
          <p:nvPr/>
        </p:nvSpPr>
        <p:spPr>
          <a:xfrm>
            <a:off x="720000" y="4788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is the maturity level of the technologies used?</a:t>
            </a:r>
          </a:p>
          <a:p>
            <a:r>
              <a:rPr lang="en-US" sz="1050" b="0" i="0" dirty="0">
                <a:solidFill>
                  <a:srgbClr val="334155"/>
                </a:solidFill>
                <a:effectLst/>
              </a:rPr>
              <a:t>May depends on the railway company.</a:t>
            </a:r>
          </a:p>
        </p:txBody>
      </p:sp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FAF55115-9F61-5DD4-AC88-88CEAA176C07}"/>
              </a:ext>
            </a:extLst>
          </p:cNvPr>
          <p:cNvSpPr txBox="1">
            <a:spLocks/>
          </p:cNvSpPr>
          <p:nvPr/>
        </p:nvSpPr>
        <p:spPr>
          <a:xfrm>
            <a:off x="6096000" y="5292000"/>
            <a:ext cx="4659086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May depend on the railway company.</a:t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515965EC-1208-909E-5806-BD13D9D7D16F}"/>
              </a:ext>
            </a:extLst>
          </p:cNvPr>
          <p:cNvSpPr txBox="1">
            <a:spLocks/>
          </p:cNvSpPr>
          <p:nvPr/>
        </p:nvSpPr>
        <p:spPr>
          <a:xfrm>
            <a:off x="6096000" y="4788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are the next Steps? </a:t>
            </a:r>
          </a:p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do you need to implement the solution?</a:t>
            </a:r>
          </a:p>
        </p:txBody>
      </p:sp>
    </p:spTree>
    <p:extLst>
      <p:ext uri="{BB962C8B-B14F-4D97-AF65-F5344CB8AC3E}">
        <p14:creationId xmlns:p14="http://schemas.microsoft.com/office/powerpoint/2010/main" val="2338891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7" ma:contentTypeDescription="Ein neues Dokument erstellen." ma:contentTypeScope="" ma:versionID="efa937a253b8a0ad253458d0295c9a6c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af1e72e99746a9a12b0b64b9fe407f72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B3B6C51-77D4-4F63-A8EC-8C7A763498FB}">
  <ds:schemaRefs>
    <ds:schemaRef ds:uri="http://schemas.microsoft.com/office/2006/metadata/properties"/>
    <ds:schemaRef ds:uri="http://schemas.microsoft.com/office/infopath/2007/PartnerControls"/>
    <ds:schemaRef ds:uri="b106c448-c3d1-41cc-8fd9-3acb307364b4"/>
    <ds:schemaRef ds:uri="b043894e-b4c8-44d0-9690-d7947297ac19"/>
  </ds:schemaRefs>
</ds:datastoreItem>
</file>

<file path=customXml/itemProps2.xml><?xml version="1.0" encoding="utf-8"?>
<ds:datastoreItem xmlns:ds="http://schemas.openxmlformats.org/officeDocument/2006/customXml" ds:itemID="{5DD488EB-8795-4A31-B76F-16B318CFE1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4D14693-25A4-4C1A-ABDC-E6E0CFF1A69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531</Words>
  <Application>Microsoft Macintosh PowerPoint</Application>
  <PresentationFormat>Widescreen</PresentationFormat>
  <Paragraphs>37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</vt:lpstr>
      <vt:lpstr>Who Makes The Rules</vt:lpstr>
      <vt:lpstr>Description of the Challenge What is the problem/idea? What is the current status?  Focus on important/central points.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Strauß</dc:creator>
  <cp:lastModifiedBy>Jens Grote</cp:lastModifiedBy>
  <cp:revision>9</cp:revision>
  <dcterms:created xsi:type="dcterms:W3CDTF">2025-06-16T07:18:47Z</dcterms:created>
  <dcterms:modified xsi:type="dcterms:W3CDTF">2026-06-24T08:31:26Z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Office:12</vt:lpwstr>
  </property>
  <property fmtid="{D5CDD505-2E9C-101B-9397-08002B2CF9AE}" pid="13" name="ClassificationContentMarkingFooterText">
    <vt:lpwstr>TLP gelb (Adressatenkreis)</vt:lpwstr>
  </property>
</Properties>
</file>