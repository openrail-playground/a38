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59" r:id="rId8"/>
    <p:sldId id="266" r:id="rId9"/>
    <p:sldId id="261" r:id="rId10"/>
    <p:sldId id="262" r:id="rId11"/>
    <p:sldId id="26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7A67288-9912-7A2D-2A95-545A3C2A5D7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10415" y="362952"/>
            <a:ext cx="543254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A 38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73641"/>
            <a:ext cx="9144000" cy="1655762"/>
          </a:xfrm>
        </p:spPr>
        <p:txBody>
          <a:bodyPr/>
          <a:lstStyle/>
          <a:p>
            <a:r>
              <a:rPr lang="de-DE" dirty="0"/>
              <a:t>Team A38</a:t>
            </a:r>
          </a:p>
          <a:p>
            <a:r>
              <a:rPr dirty="0"/>
              <a:t>Machine-Readable Railway Governance</a:t>
            </a:r>
          </a:p>
          <a:p>
            <a:r>
              <a:rPr dirty="0"/>
              <a:t>Hack4Rail 2026 – </a:t>
            </a:r>
            <a:r>
              <a:rPr lang="de-CH" dirty="0"/>
              <a:t>Who </a:t>
            </a:r>
            <a:r>
              <a:rPr lang="de-CH" dirty="0" err="1"/>
              <a:t>Makes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Rules?</a:t>
            </a:r>
            <a:endParaRPr dirty="0"/>
          </a:p>
        </p:txBody>
      </p:sp>
      <p:pic>
        <p:nvPicPr>
          <p:cNvPr id="4" name="Picture 3" descr="Permit A38: the dilemma of artificial intelligence">
            <a:extLst>
              <a:ext uri="{FF2B5EF4-FFF2-40B4-BE49-F238E27FC236}">
                <a16:creationId xmlns:a16="http://schemas.microsoft.com/office/drawing/2014/main" id="{6808EE80-BE05-4466-4F9C-4D832469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689" y="389238"/>
            <a:ext cx="7772400" cy="4378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5.224 Stock-Fotos und hochauflösende Bilder zu Papier ...">
            <a:extLst>
              <a:ext uri="{FF2B5EF4-FFF2-40B4-BE49-F238E27FC236}">
                <a16:creationId xmlns:a16="http://schemas.microsoft.com/office/drawing/2014/main" id="{DC659071-9294-E92E-AFC0-36B134A84B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432956" y="0"/>
            <a:ext cx="11658600" cy="82686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 dirty="0"/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6287-8659-7C15-D37F-9C66AB86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D5CA-BCB5-926E-66CC-7B0673AA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Solution = </a:t>
            </a:r>
            <a:r>
              <a:rPr dirty="0"/>
              <a:t>The Paradigm Shift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322CB-DFCD-E17A-C237-60C62718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85" y="1663049"/>
            <a:ext cx="2859228" cy="1012540"/>
          </a:xfrm>
          <a:prstGeom prst="rect">
            <a:avLst/>
          </a:prstGeom>
        </p:spPr>
      </p:pic>
      <p:pic>
        <p:nvPicPr>
          <p:cNvPr id="6" name="Picture 5" descr="BSI - IT-Grundschutz">
            <a:extLst>
              <a:ext uri="{FF2B5EF4-FFF2-40B4-BE49-F238E27FC236}">
                <a16:creationId xmlns:a16="http://schemas.microsoft.com/office/drawing/2014/main" id="{3AC0DE79-2640-A765-0E0E-E3D994EBE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861" y="2765725"/>
            <a:ext cx="1624822" cy="977535"/>
          </a:xfrm>
          <a:prstGeom prst="rect">
            <a:avLst/>
          </a:prstGeom>
        </p:spPr>
      </p:pic>
      <p:pic>
        <p:nvPicPr>
          <p:cNvPr id="7" name="Picture 6" descr="UIC and its members begin work on the OpenRail Foundation ...">
            <a:extLst>
              <a:ext uri="{FF2B5EF4-FFF2-40B4-BE49-F238E27FC236}">
                <a16:creationId xmlns:a16="http://schemas.microsoft.com/office/drawing/2014/main" id="{1C43864A-07E3-7720-1847-0980898D1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4076136"/>
            <a:ext cx="1371600" cy="939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E40DA4-615D-A1C3-3EE2-2407F5616E79}"/>
              </a:ext>
            </a:extLst>
          </p:cNvPr>
          <p:cNvSpPr txBox="1"/>
          <p:nvPr/>
        </p:nvSpPr>
        <p:spPr>
          <a:xfrm>
            <a:off x="3521676" y="1594022"/>
            <a:ext cx="4732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/>
              <a:t>Does </a:t>
            </a:r>
            <a:r>
              <a:rPr lang="de-DE" sz="5400" dirty="0" err="1"/>
              <a:t>it</a:t>
            </a:r>
            <a:endParaRPr lang="de-DE" sz="5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94633E-81FA-116C-2333-9EF4790A89FA}"/>
              </a:ext>
            </a:extLst>
          </p:cNvPr>
          <p:cNvSpPr txBox="1"/>
          <p:nvPr/>
        </p:nvSpPr>
        <p:spPr>
          <a:xfrm>
            <a:off x="7459362" y="2675589"/>
            <a:ext cx="4732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 err="1"/>
              <a:t>Adopted</a:t>
            </a:r>
            <a:r>
              <a:rPr lang="de-DE" sz="5400" dirty="0"/>
              <a:t> </a:t>
            </a:r>
            <a:r>
              <a:rPr lang="de-DE" sz="5400" dirty="0" err="1"/>
              <a:t>it</a:t>
            </a:r>
            <a:endParaRPr lang="de-DE" sz="5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3C0C1-AB04-7301-57E6-4894BE3752E0}"/>
              </a:ext>
            </a:extLst>
          </p:cNvPr>
          <p:cNvSpPr txBox="1"/>
          <p:nvPr/>
        </p:nvSpPr>
        <p:spPr>
          <a:xfrm>
            <a:off x="838200" y="5194951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dirty="0" err="1"/>
              <a:t>We</a:t>
            </a:r>
            <a:r>
              <a:rPr lang="de-DE" sz="5400" dirty="0"/>
              <a:t> bring </a:t>
            </a:r>
            <a:r>
              <a:rPr lang="de-DE" sz="5400" dirty="0" err="1"/>
              <a:t>it</a:t>
            </a:r>
            <a:r>
              <a:rPr lang="de-DE" sz="5400" dirty="0"/>
              <a:t> </a:t>
            </a:r>
            <a:r>
              <a:rPr lang="de-DE" sz="5400" dirty="0" err="1"/>
              <a:t>to</a:t>
            </a:r>
            <a:r>
              <a:rPr lang="de-DE" sz="5400" dirty="0"/>
              <a:t> Rail – OSCAL4Rail</a:t>
            </a:r>
          </a:p>
        </p:txBody>
      </p:sp>
    </p:spTree>
    <p:extLst>
      <p:ext uri="{BB962C8B-B14F-4D97-AF65-F5344CB8AC3E}">
        <p14:creationId xmlns:p14="http://schemas.microsoft.com/office/powerpoint/2010/main" val="193088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Standardization</a:t>
            </a:r>
            <a:r>
              <a:rPr lang="de-DE" dirty="0"/>
              <a:t>: </a:t>
            </a:r>
            <a:r>
              <a:rPr dirty="0"/>
              <a:t>OSCAL4Rail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Lightweight profile of NIST OSCAL</a:t>
            </a:r>
            <a:r>
              <a:rPr lang="de-DE" dirty="0"/>
              <a:t> (</a:t>
            </a:r>
            <a:r>
              <a:rPr lang="en-DE" dirty="0"/>
              <a:t>Open Security Controls Assessment Language)</a:t>
            </a:r>
            <a:r>
              <a:rPr dirty="0"/>
              <a:t> for railway regulations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1E05F-1602-EF34-A6A6-7CB030B9E4B0}"/>
              </a:ext>
            </a:extLst>
          </p:cNvPr>
          <p:cNvSpPr/>
          <p:nvPr/>
        </p:nvSpPr>
        <p:spPr>
          <a:xfrm>
            <a:off x="935180" y="2756541"/>
            <a:ext cx="7481455" cy="852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 err="1"/>
              <a:t>Catalog</a:t>
            </a:r>
            <a:r>
              <a:rPr lang="en-GB" dirty="0"/>
              <a:t>				One regulation</a:t>
            </a:r>
            <a:endParaRPr lang="de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23DA76-E8F1-4E8D-DF4A-B71F0221E08D}"/>
              </a:ext>
            </a:extLst>
          </p:cNvPr>
          <p:cNvSpPr/>
          <p:nvPr/>
        </p:nvSpPr>
        <p:spPr>
          <a:xfrm>
            <a:off x="2355272" y="4001294"/>
            <a:ext cx="7481455" cy="85205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Groups</a:t>
            </a:r>
            <a:r>
              <a:rPr lang="en-GB" dirty="0"/>
              <a:t>				One chapter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7F1051-31FC-7502-A717-2C2C9DA88C1D}"/>
              </a:ext>
            </a:extLst>
          </p:cNvPr>
          <p:cNvSpPr/>
          <p:nvPr/>
        </p:nvSpPr>
        <p:spPr>
          <a:xfrm>
            <a:off x="4354945" y="5246047"/>
            <a:ext cx="7481455" cy="8520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Controls</a:t>
            </a:r>
            <a:r>
              <a:rPr lang="en-GB" sz="2000" dirty="0"/>
              <a:t>	</a:t>
            </a:r>
            <a:r>
              <a:rPr lang="en-GB" dirty="0"/>
              <a:t>			One rule, verbatim text</a:t>
            </a:r>
            <a:endParaRPr lang="de-DE" dirty="0"/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CBE14B5-36B3-E2B8-0BD2-06162B7F1095}"/>
              </a:ext>
            </a:extLst>
          </p:cNvPr>
          <p:cNvCxnSpPr>
            <a:endCxn id="5" idx="1"/>
          </p:cNvCxnSpPr>
          <p:nvPr/>
        </p:nvCxnSpPr>
        <p:spPr>
          <a:xfrm>
            <a:off x="1402773" y="3608596"/>
            <a:ext cx="952499" cy="81872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E5EFF5FC-A405-15CB-B5E9-6C93A99CF0BC}"/>
              </a:ext>
            </a:extLst>
          </p:cNvPr>
          <p:cNvCxnSpPr>
            <a:cxnSpLocks/>
          </p:cNvCxnSpPr>
          <p:nvPr/>
        </p:nvCxnSpPr>
        <p:spPr>
          <a:xfrm>
            <a:off x="2729346" y="4854142"/>
            <a:ext cx="1625599" cy="8075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1559-2902-1535-A939-2080D145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-SBB-Card | dravetsuisse">
            <a:extLst>
              <a:ext uri="{FF2B5EF4-FFF2-40B4-BE49-F238E27FC236}">
                <a16:creationId xmlns:a16="http://schemas.microsoft.com/office/drawing/2014/main" id="{FD3D38D0-5DA1-C810-10E8-2861ED21C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678" y="1465010"/>
            <a:ext cx="3169166" cy="1963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AF577E-F098-62FD-8EC5-C3B422EF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Proof of Concept: BS-KI (Switzerland)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C123-C6B1-89A4-A905-BA6260D4B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555517"/>
            <a:ext cx="10515600" cy="295184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de-DE" sz="3600" dirty="0"/>
          </a:p>
          <a:p>
            <a:pPr marL="0" indent="0" algn="ctr">
              <a:buNone/>
            </a:pPr>
            <a:endParaRPr lang="en-DE" sz="3600" dirty="0"/>
          </a:p>
          <a:p>
            <a:pPr marL="0" indent="0" algn="ctr">
              <a:buNone/>
            </a:pPr>
            <a:endParaRPr lang="de-DE" sz="3600" dirty="0"/>
          </a:p>
          <a:p>
            <a:pPr marL="0" indent="0" algn="ctr">
              <a:buNone/>
            </a:pPr>
            <a:r>
              <a:rPr sz="5100" dirty="0" err="1"/>
              <a:t>Branchenstandard</a:t>
            </a:r>
            <a:r>
              <a:rPr sz="5100" dirty="0"/>
              <a:t> </a:t>
            </a:r>
            <a:r>
              <a:rPr sz="5100" dirty="0" err="1"/>
              <a:t>Kundeninformation</a:t>
            </a:r>
            <a:endParaRPr lang="de-DE" sz="5100" dirty="0"/>
          </a:p>
          <a:p>
            <a:pPr marL="0" indent="0" algn="ctr">
              <a:buNone/>
            </a:pPr>
            <a:r>
              <a:rPr lang="de-DE" sz="3600" dirty="0"/>
              <a:t>(National Standard </a:t>
            </a:r>
            <a:r>
              <a:rPr lang="de-DE" sz="3600" dirty="0" err="1"/>
              <a:t>for</a:t>
            </a:r>
            <a:r>
              <a:rPr lang="de-DE" sz="3600" dirty="0"/>
              <a:t> Passenger Information)</a:t>
            </a:r>
            <a:endParaRPr sz="3600" dirty="0"/>
          </a:p>
          <a:p>
            <a:pPr marL="0" indent="0" algn="ctr">
              <a:buNone/>
            </a:pPr>
            <a:endParaRPr lang="de-DE" sz="3600" dirty="0"/>
          </a:p>
          <a:p>
            <a:pPr marL="0" indent="0" algn="ctr">
              <a:buNone/>
            </a:pPr>
            <a:r>
              <a:rPr sz="5800" dirty="0"/>
              <a:t>44 rules × 6 channels × 4 transport modes</a:t>
            </a:r>
            <a:endParaRPr lang="de-DE" sz="5800" dirty="0"/>
          </a:p>
          <a:p>
            <a:pPr marL="0" indent="0" algn="ctr">
              <a:buNone/>
            </a:pPr>
            <a:r>
              <a:rPr lang="en-GB" sz="3600" dirty="0"/>
              <a:t>P</a:t>
            </a:r>
            <a:r>
              <a:rPr lang="en-DE" sz="3600" dirty="0"/>
              <a:t>lus referenced annexes and documents</a:t>
            </a:r>
            <a:endParaRPr lang="de-DE" sz="3600" dirty="0"/>
          </a:p>
          <a:p>
            <a:pPr algn="ctr"/>
            <a:endParaRPr dirty="0"/>
          </a:p>
        </p:txBody>
      </p:sp>
      <p:pic>
        <p:nvPicPr>
          <p:cNvPr id="6" name="Picture 5" descr="Document documents - free Icon PNG, SVG">
            <a:extLst>
              <a:ext uri="{FF2B5EF4-FFF2-40B4-BE49-F238E27FC236}">
                <a16:creationId xmlns:a16="http://schemas.microsoft.com/office/drawing/2014/main" id="{85AE58B8-A259-14E9-33B6-5C5F8F230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38" y="1690688"/>
            <a:ext cx="1660002" cy="1660002"/>
          </a:xfrm>
          <a:prstGeom prst="rect">
            <a:avLst/>
          </a:prstGeom>
        </p:spPr>
      </p:pic>
      <p:pic>
        <p:nvPicPr>
          <p:cNvPr id="7" name="Picture 6" descr="Document documents - free Icon PNG, SVG">
            <a:extLst>
              <a:ext uri="{FF2B5EF4-FFF2-40B4-BE49-F238E27FC236}">
                <a16:creationId xmlns:a16="http://schemas.microsoft.com/office/drawing/2014/main" id="{DEF7E1EB-87DF-F48C-0E26-2933E65EC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532" y="2784306"/>
            <a:ext cx="1660002" cy="1660002"/>
          </a:xfrm>
          <a:prstGeom prst="rect">
            <a:avLst/>
          </a:prstGeom>
        </p:spPr>
      </p:pic>
      <p:pic>
        <p:nvPicPr>
          <p:cNvPr id="8" name="Picture 7" descr="Document documents - free Icon PNG, SVG">
            <a:extLst>
              <a:ext uri="{FF2B5EF4-FFF2-40B4-BE49-F238E27FC236}">
                <a16:creationId xmlns:a16="http://schemas.microsoft.com/office/drawing/2014/main" id="{90160351-00AC-9D83-DB09-86D3E1E1B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852" y="1552991"/>
            <a:ext cx="1660002" cy="1660002"/>
          </a:xfrm>
          <a:prstGeom prst="rect">
            <a:avLst/>
          </a:prstGeom>
        </p:spPr>
      </p:pic>
      <p:pic>
        <p:nvPicPr>
          <p:cNvPr id="9" name="Picture 8" descr="Document documents - free Icon PNG, SVG">
            <a:extLst>
              <a:ext uri="{FF2B5EF4-FFF2-40B4-BE49-F238E27FC236}">
                <a16:creationId xmlns:a16="http://schemas.microsoft.com/office/drawing/2014/main" id="{A1A42A46-2812-7D8F-0536-7B8063BD4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320" y="2784306"/>
            <a:ext cx="1660002" cy="1660002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29A1551A-2F34-3D21-EA3A-E0A1B43E5C0C}"/>
              </a:ext>
            </a:extLst>
          </p:cNvPr>
          <p:cNvSpPr/>
          <p:nvPr/>
        </p:nvSpPr>
        <p:spPr>
          <a:xfrm>
            <a:off x="2174789" y="2131495"/>
            <a:ext cx="3311611" cy="389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0AFF2FE-68CD-C401-3C29-89B5875CE0DA}"/>
              </a:ext>
            </a:extLst>
          </p:cNvPr>
          <p:cNvSpPr/>
          <p:nvPr/>
        </p:nvSpPr>
        <p:spPr>
          <a:xfrm rot="1070166">
            <a:off x="2163897" y="2811901"/>
            <a:ext cx="1037878" cy="38919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998DFF4-E328-FD4B-4EE6-08C11C5FA076}"/>
              </a:ext>
            </a:extLst>
          </p:cNvPr>
          <p:cNvSpPr/>
          <p:nvPr/>
        </p:nvSpPr>
        <p:spPr>
          <a:xfrm rot="9965467">
            <a:off x="4470679" y="2893913"/>
            <a:ext cx="1037878" cy="38919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B89A13B-8D8B-8D5C-8450-68F2F4FBD0D6}"/>
              </a:ext>
            </a:extLst>
          </p:cNvPr>
          <p:cNvSpPr/>
          <p:nvPr/>
        </p:nvSpPr>
        <p:spPr>
          <a:xfrm>
            <a:off x="6819025" y="2925086"/>
            <a:ext cx="1037878" cy="389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27E9953-8AC8-01B6-E7F8-F2B3FD82E5FF}"/>
              </a:ext>
            </a:extLst>
          </p:cNvPr>
          <p:cNvSpPr/>
          <p:nvPr/>
        </p:nvSpPr>
        <p:spPr>
          <a:xfrm rot="10800000">
            <a:off x="4440194" y="3565643"/>
            <a:ext cx="3311611" cy="38919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101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Versioning &amp;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Because it's in Git</a:t>
            </a:r>
            <a:r>
              <a:rPr lang="de-DE" dirty="0"/>
              <a:t> and </a:t>
            </a:r>
            <a:r>
              <a:rPr lang="de-DE" dirty="0" err="1"/>
              <a:t>Json</a:t>
            </a:r>
            <a:r>
              <a:rPr lang="de-DE" dirty="0"/>
              <a:t>/Schema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Full version history of every rule</a:t>
            </a:r>
          </a:p>
          <a:p>
            <a:r>
              <a:rPr dirty="0"/>
              <a:t>Diff: what changed, when, by whom</a:t>
            </a:r>
          </a:p>
          <a:p>
            <a:r>
              <a:rPr dirty="0"/>
              <a:t>Rollback: revert to any previous state</a:t>
            </a:r>
          </a:p>
          <a:p>
            <a:r>
              <a:rPr dirty="0"/>
              <a:t>Audit trail: who approved what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No more: "Which version is current?"</a:t>
            </a:r>
          </a:p>
          <a:p>
            <a:pPr marL="0" indent="0">
              <a:buNone/>
            </a:pPr>
            <a:r>
              <a:rPr dirty="0"/>
              <a:t>No more: "What exactly changed in §4.2?"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4EF61CF-21D7-3ADA-7DD3-32153FADE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908" y="1555751"/>
            <a:ext cx="4621212" cy="4621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Establishing the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1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dirty="0"/>
              <a:t>1. Start with IT/ITS regulations</a:t>
            </a:r>
            <a:r>
              <a:rPr lang="de-DE" sz="2000" dirty="0"/>
              <a:t> </a:t>
            </a:r>
            <a:r>
              <a:rPr sz="2000" dirty="0"/>
              <a:t>(already structured, digital-native)</a:t>
            </a:r>
            <a:endParaRPr lang="de-DE" sz="2000" dirty="0"/>
          </a:p>
          <a:p>
            <a:pPr marL="0" indent="0">
              <a:buNone/>
            </a:pPr>
            <a:r>
              <a:rPr lang="de-DE" sz="2000" dirty="0"/>
              <a:t>	- </a:t>
            </a:r>
            <a:r>
              <a:rPr lang="de-DE" sz="2000" dirty="0" err="1"/>
              <a:t>Verify</a:t>
            </a:r>
            <a:r>
              <a:rPr lang="de-DE" sz="2000" dirty="0"/>
              <a:t> </a:t>
            </a:r>
            <a:r>
              <a:rPr lang="de-DE" sz="2000" dirty="0" err="1"/>
              <a:t>automated</a:t>
            </a:r>
            <a:r>
              <a:rPr lang="de-DE" sz="2000" dirty="0"/>
              <a:t> </a:t>
            </a:r>
            <a:r>
              <a:rPr lang="de-DE" sz="2000" dirty="0" err="1"/>
              <a:t>creation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schemata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governance</a:t>
            </a:r>
            <a:r>
              <a:rPr lang="de-DE" sz="2000" dirty="0"/>
              <a:t> </a:t>
            </a:r>
            <a:r>
              <a:rPr lang="de-DE" sz="2000" dirty="0" err="1"/>
              <a:t>owners</a:t>
            </a:r>
            <a:endParaRPr sz="2000" dirty="0"/>
          </a:p>
          <a:p>
            <a:endParaRPr sz="2000" dirty="0"/>
          </a:p>
          <a:p>
            <a:pPr marL="0" indent="0">
              <a:buNone/>
            </a:pPr>
            <a:r>
              <a:rPr lang="de-DE" sz="2000" dirty="0"/>
              <a:t>2.</a:t>
            </a:r>
            <a:r>
              <a:rPr sz="2000" dirty="0"/>
              <a:t> Import existing governance documents</a:t>
            </a:r>
            <a:endParaRPr lang="de-DE" sz="2000" dirty="0"/>
          </a:p>
          <a:p>
            <a:pPr marL="0" indent="0">
              <a:buNone/>
            </a:pPr>
            <a:r>
              <a:rPr lang="de-DE" sz="2000" dirty="0"/>
              <a:t>	</a:t>
            </a:r>
            <a:r>
              <a:rPr sz="2000" dirty="0"/>
              <a:t>→ validate → publish as OSCAL</a:t>
            </a:r>
          </a:p>
          <a:p>
            <a:endParaRPr sz="2000" dirty="0"/>
          </a:p>
          <a:p>
            <a:pPr marL="0" indent="0">
              <a:buNone/>
            </a:pPr>
            <a:r>
              <a:rPr lang="de-DE" sz="2000" dirty="0"/>
              <a:t>3</a:t>
            </a:r>
            <a:r>
              <a:rPr sz="2000" dirty="0"/>
              <a:t>. Expand: safety regulations, cross-border (TSI),</a:t>
            </a:r>
            <a:r>
              <a:rPr lang="de-DE" sz="2000" dirty="0"/>
              <a:t> </a:t>
            </a:r>
            <a:r>
              <a:rPr sz="2000" dirty="0"/>
              <a:t>operational rules</a:t>
            </a:r>
            <a:endParaRPr lang="de-DE" sz="2000" dirty="0"/>
          </a:p>
          <a:p>
            <a:pPr marL="0" indent="0">
              <a:buNone/>
            </a:pPr>
            <a:endParaRPr lang="en-DE" sz="2000" dirty="0"/>
          </a:p>
          <a:p>
            <a:pPr marL="0" indent="0">
              <a:buNone/>
            </a:pPr>
            <a:r>
              <a:rPr lang="en-DE" sz="2000" dirty="0"/>
              <a:t>4. </a:t>
            </a:r>
            <a:r>
              <a:rPr lang="en-GB" sz="2000" dirty="0"/>
              <a:t>F</a:t>
            </a:r>
            <a:r>
              <a:rPr lang="en-DE" sz="2000" dirty="0"/>
              <a:t>ind easy tools for non technical governance Owners to participate to create structured rules</a:t>
            </a:r>
            <a:endParaRPr sz="2000" dirty="0"/>
          </a:p>
          <a:p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D0452-0439-E6B7-5E7E-A087D02FF2EA}"/>
              </a:ext>
            </a:extLst>
          </p:cNvPr>
          <p:cNvSpPr txBox="1"/>
          <p:nvPr/>
        </p:nvSpPr>
        <p:spPr>
          <a:xfrm>
            <a:off x="926757" y="5696465"/>
            <a:ext cx="98483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Little change in workflow. Massive gain in usability.</a:t>
            </a:r>
          </a:p>
          <a:p>
            <a:pPr algn="ctr"/>
            <a:r>
              <a:rPr lang="en-GB" sz="2800" dirty="0"/>
              <a:t>→ Cross-railway interoperability (DB / SBB / ÖBB / SCNF / 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t"/>
          <a:lstStyle/>
          <a:p>
            <a:r>
              <a:rPr dirty="0"/>
              <a:t>OSCAL4Rail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1818" y="2601119"/>
            <a:ext cx="9144000" cy="3134518"/>
          </a:xfrm>
        </p:spPr>
        <p:txBody>
          <a:bodyPr>
            <a:normAutofit lnSpcReduction="10000"/>
          </a:bodyPr>
          <a:lstStyle/>
          <a:p>
            <a:r>
              <a:rPr dirty="0"/>
              <a:t>Machine-readable governance for railways.</a:t>
            </a:r>
          </a:p>
          <a:p>
            <a:endParaRPr dirty="0"/>
          </a:p>
          <a:p>
            <a:r>
              <a:rPr dirty="0"/>
              <a:t>Who makes the rules? Humans.</a:t>
            </a:r>
          </a:p>
          <a:p>
            <a:r>
              <a:rPr dirty="0"/>
              <a:t>How we publish, version, and compare them?</a:t>
            </a:r>
          </a:p>
          <a:p>
            <a:r>
              <a:rPr dirty="0"/>
              <a:t>That's a machine's job.</a:t>
            </a:r>
          </a:p>
          <a:p>
            <a:endParaRPr dirty="0"/>
          </a:p>
          <a:p>
            <a:r>
              <a:rPr dirty="0"/>
              <a:t>Starting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_H4R_PPTMaster" id="{A8D19306-7F92-3741-8E9B-1996A972416B}" vid="{4B0AC7A3-DE22-B748-A902-9C1F40428D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8" ma:contentTypeDescription="Ein neues Dokument erstellen." ma:contentTypeScope="" ma:versionID="ca18c32604eb9eb075bdd5b520f76d7f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0e0a0918b2fa3636e306fde1bc5c258b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D2420F-AFAE-4394-AC5D-D74FCC39CD53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043894e-b4c8-44d0-9690-d7947297ac19"/>
    <ds:schemaRef ds:uri="http://schemas.microsoft.com/office/2006/documentManagement/types"/>
    <ds:schemaRef ds:uri="b106c448-c3d1-41cc-8fd9-3acb307364b4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BED3A9D-D1E4-45EA-8B49-CB6F60C2A9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CF5FD6-43E2-4C9A-9372-C9D60EE1772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3dac9f92-1d4e-4aae-b975-a9900684008d}" enabled="1" method="Standard" siteId="{a1a72d9c-49e6-4f6d-9af6-5aafa1183bf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26</TotalTime>
  <Words>297</Words>
  <Application>Microsoft Macintosh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</vt:lpstr>
      <vt:lpstr>A 38</vt:lpstr>
      <vt:lpstr>The Problem</vt:lpstr>
      <vt:lpstr>The Solution = The Paradigm Shift</vt:lpstr>
      <vt:lpstr>Idea for Standardization: OSCAL4Rail</vt:lpstr>
      <vt:lpstr>Proof of Concept: BS-KI (Switzerland)</vt:lpstr>
      <vt:lpstr>Versioning &amp; History</vt:lpstr>
      <vt:lpstr>Next Steps: Establishing the Standard</vt:lpstr>
      <vt:lpstr>OSCAL4Rail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Grote</dc:creator>
  <cp:lastModifiedBy>Jens Grote</cp:lastModifiedBy>
  <cp:revision>13</cp:revision>
  <dcterms:created xsi:type="dcterms:W3CDTF">2026-06-23T13:11:35Z</dcterms:created>
  <dcterms:modified xsi:type="dcterms:W3CDTF">2026-06-24T07:36:06Z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Office:9</vt:lpwstr>
  </property>
  <property fmtid="{D5CDD505-2E9C-101B-9397-08002B2CF9AE}" pid="13" name="ClassificationContentMarkingFooterText">
    <vt:lpwstr>TLP gelb (Adressatenkreis)</vt:lpwstr>
  </property>
</Properties>
</file>