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913A3-1867-426D-86AC-4E1D1B5FB1F8}" v="16" dt="2025-06-16T08:03:01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ED750F-FEF0-BA89-6E3E-9D360462EBB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5" t="30189" r="27702" b="16855"/>
          <a:stretch>
            <a:fillRect/>
          </a:stretch>
        </p:blipFill>
        <p:spPr>
          <a:xfrm>
            <a:off x="11415316" y="301923"/>
            <a:ext cx="635608" cy="91955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4C0BF6E-8C64-0D33-64D6-403B3BB23C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4684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FFC000">
                    <a:alpha val="50000"/>
                  </a:srgbClr>
                </a:solidFill>
                <a:latin typeface="Aptos" panose="020B0004020202020204" pitchFamily="34" charset="0"/>
              </a:rPr>
              <a:t>TLP gelb (Adressatenkreis)</a:t>
            </a:r>
          </a:p>
        </p:txBody>
      </p:sp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9B84F-0F35-1B3B-6454-317804BB9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1712"/>
          </a:xfrm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t>Automatic Contract Analysis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2D0B35-9A39-00CE-1798-D62A0767A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5200"/>
            <a:ext cx="9144000" cy="714240"/>
          </a:xfr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>
            <a:normAutofit/>
          </a:bodyPr>
          <a:lstStyle/>
          <a:p>
            <a:r>
              <a:t>TheConTextractors</a:t>
            </a:r>
            <a:endParaRPr lang="de-DE" sz="4000" i="1" dirty="0"/>
          </a:p>
          <a:p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A5DF11-3593-789C-55EF-11E2E5BAE3A1}"/>
              </a:ext>
            </a:extLst>
          </p:cNvPr>
          <p:cNvSpPr txBox="1"/>
          <p:nvPr/>
        </p:nvSpPr>
        <p:spPr>
          <a:xfrm>
            <a:off x="2382328" y="4589479"/>
            <a:ext cx="7427343" cy="18774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anchor="ctr">
            <a:spAutoFit/>
          </a:bodyPr>
          <a:lstStyle/>
          <a:p>
            <a:pPr algn="ctr"/>
            <a:r>
              <a:t>Simon Noelle (ÖBB)</a:t>
            </a:r>
          </a:p>
          <a:p>
            <a:pPr algn="ctr"/>
            <a:r>
              <a:t>Simon Engel (ÖBB)</a:t>
            </a:r>
          </a:p>
          <a:p>
            <a:pPr algn="ctr"/>
            <a:r>
              <a:t>Jens Grote (DB)</a:t>
            </a:r>
          </a:p>
          <a:p>
            <a:pPr algn="ctr"/>
          </a:p>
          <a:p>
            <a:pPr algn="ctr"/>
          </a:p>
          <a:p>
            <a:pPr algn="ctr"/>
          </a:p>
          <a:p>
            <a:pPr algn="ctr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6092527D-5A9F-2BDD-F98A-5089F1433D44}"/>
              </a:ext>
            </a:extLst>
          </p:cNvPr>
          <p:cNvSpPr txBox="1">
            <a:spLocks/>
          </p:cNvSpPr>
          <p:nvPr/>
        </p:nvSpPr>
        <p:spPr>
          <a:xfrm>
            <a:off x="2382328" y="2265780"/>
            <a:ext cx="7427343" cy="8108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SBB Infrastruktur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370296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8D74A-B9AF-7B4F-EE38-4F7AE3D1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27"/>
            <a:ext cx="4800600" cy="682831"/>
          </a:xfrm>
        </p:spPr>
        <p:txBody>
          <a:bodyPr>
            <a:normAutofit/>
          </a:bodyPr>
          <a:lstStyle/>
          <a:p>
            <a:r>
              <a:t>SBB manages 10,000+ infrastructure contracts from 150 years (crossing structures, financing agreements, station contracts). Contracts exist as PDFs – from handwritten documents (1926) to current agreements. Contract data must be manually captured in SAP/ContrAct: 13 fields + cost allocation. This is time-consuming, error-prone, and does not scale.</a:t>
            </a:r>
            <a:endParaRPr lang="de-DE" sz="105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258"/>
            <a:ext cx="4800600" cy="3418113"/>
          </a:xfrm>
          <a:ln>
            <a:solidFill>
              <a:schemeClr val="tx1"/>
            </a:solidFill>
            <a:prstDash val="solid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E04B64-2B0F-4488-F7DB-D130FB158C88}"/>
              </a:ext>
            </a:extLst>
          </p:cNvPr>
          <p:cNvSpPr txBox="1">
            <a:spLocks/>
          </p:cNvSpPr>
          <p:nvPr/>
        </p:nvSpPr>
        <p:spPr>
          <a:xfrm>
            <a:off x="6096000" y="340427"/>
            <a:ext cx="4800600" cy="682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t>AI-powered extraction pipeline: PDF → text extraction (markitdown) → LLM structured extraction → validated JSON. Each field includes confidence level (eindeutig/abgeleitet/fehlend) and source reference. Validated against a machine-readable contract taxonomy schema.</a:t>
            </a:r>
            <a:endParaRPr lang="de-DE" sz="105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B26CFB6-BB7B-94F9-1697-4AE03EAED08B}"/>
              </a:ext>
            </a:extLst>
          </p:cNvPr>
          <p:cNvSpPr txBox="1">
            <a:spLocks/>
          </p:cNvSpPr>
          <p:nvPr/>
        </p:nvSpPr>
        <p:spPr>
          <a:xfrm>
            <a:off x="6096000" y="1023258"/>
            <a:ext cx="4800600" cy="341811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6CAA227-9BDB-311F-5B8C-1B6C90C5C92D}"/>
              </a:ext>
            </a:extLst>
          </p:cNvPr>
          <p:cNvSpPr txBox="1">
            <a:spLocks/>
          </p:cNvSpPr>
          <p:nvPr/>
        </p:nvSpPr>
        <p:spPr>
          <a:xfrm>
            <a:off x="838200" y="4618513"/>
            <a:ext cx="4800600" cy="34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sz="1050" dirty="0"/>
              <a:t>Project Links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A2B7333-BA37-8832-8093-B6B2565C42F7}"/>
              </a:ext>
            </a:extLst>
          </p:cNvPr>
          <p:cNvSpPr txBox="1">
            <a:spLocks/>
          </p:cNvSpPr>
          <p:nvPr/>
        </p:nvSpPr>
        <p:spPr>
          <a:xfrm>
            <a:off x="838200" y="4963886"/>
            <a:ext cx="10058400" cy="119445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GitHub Repository: https://github.com/OpenRail-Playground/A38</a:t>
            </a:r>
          </a:p>
          <a:p>
            <a:r>
              <a:t>Demo: Live PDF → validated JSON extraction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315975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80000"/>
            <a:ext cx="4659086" cy="756000"/>
          </a:xfrm>
          <a:ln>
            <a:solidFill>
              <a:schemeClr val="tx1"/>
            </a:solidFill>
            <a:prstDash val="solid"/>
          </a:ln>
        </p:spPr>
        <p:txBody>
          <a:bodyPr anchor="t">
            <a:normAutofit/>
          </a:bodyPr>
          <a:lstStyle/>
          <a:p>
            <a:r>
              <a:t>SBB Infrastruktur (contract management), asset managers, finance departments, legal teams. Applicable to DB, ÖBB and other railways.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EBD656-5719-FFA2-4DB2-23C82B73AF33}"/>
              </a:ext>
            </a:extLst>
          </p:cNvPr>
          <p:cNvSpPr txBox="1">
            <a:spLocks/>
          </p:cNvSpPr>
          <p:nvPr/>
        </p:nvSpPr>
        <p:spPr>
          <a:xfrm>
            <a:off x="6096000" y="432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existing alternatives to the solution?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A67A1D-1775-47EB-C6B8-2D1F646A844D}"/>
              </a:ext>
            </a:extLst>
          </p:cNvPr>
          <p:cNvSpPr txBox="1">
            <a:spLocks/>
          </p:cNvSpPr>
          <p:nvPr/>
        </p:nvSpPr>
        <p:spPr>
          <a:xfrm>
            <a:off x="6096000" y="2487751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Manual data entry into SAP/ContrAct. No production-grade automated solution exists.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75E147C-01D1-6200-5FBB-F978E79FAFC5}"/>
              </a:ext>
            </a:extLst>
          </p:cNvPr>
          <p:cNvSpPr txBox="1">
            <a:spLocks/>
          </p:cNvSpPr>
          <p:nvPr/>
        </p:nvSpPr>
        <p:spPr>
          <a:xfrm>
            <a:off x="6096000" y="1980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Which alternatives are out of the question and why?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6AD8C6D-6739-4A20-FAF8-129BA6D9A943}"/>
              </a:ext>
            </a:extLst>
          </p:cNvPr>
          <p:cNvSpPr txBox="1">
            <a:spLocks/>
          </p:cNvSpPr>
          <p:nvPr/>
        </p:nvSpPr>
        <p:spPr>
          <a:xfrm>
            <a:off x="6096000" y="3888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10,000+ contracts × 30-60 min manual effort. Automated extraction reduces to minutes with human-in-the-loop for edge cases. Enables proactive contract management.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5E17B89-BB80-BC4F-02DE-52C4353EEF26}"/>
              </a:ext>
            </a:extLst>
          </p:cNvPr>
          <p:cNvSpPr txBox="1">
            <a:spLocks/>
          </p:cNvSpPr>
          <p:nvPr/>
        </p:nvSpPr>
        <p:spPr>
          <a:xfrm>
            <a:off x="6096000" y="3384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foreseeable risks, hurdles or dependencies, how needs to be considered?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DEF7993-621B-F41E-42B0-07562CA64420}"/>
              </a:ext>
            </a:extLst>
          </p:cNvPr>
          <p:cNvSpPr txBox="1">
            <a:spLocks/>
          </p:cNvSpPr>
          <p:nvPr/>
        </p:nvSpPr>
        <p:spPr>
          <a:xfrm>
            <a:off x="720000" y="1080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Pure OCR without LLM (cannot handle semantic extraction). Unvalidated LLM output without taxonomy (not auditable). Fully manual (does not scale).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2EBA07A-803A-2B20-781C-957925F7AC17}"/>
              </a:ext>
            </a:extLst>
          </p:cNvPr>
          <p:cNvSpPr txBox="1">
            <a:spLocks/>
          </p:cNvSpPr>
          <p:nvPr/>
        </p:nvSpPr>
        <p:spPr>
          <a:xfrm>
            <a:off x="720000" y="432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Who are the user groups of the described solution?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Internal/external user groups (e.g., business sectors, b2c / b2b customers, etc.)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F790A49-DBE7-BB71-372E-B6300615545B}"/>
              </a:ext>
            </a:extLst>
          </p:cNvPr>
          <p:cNvSpPr txBox="1">
            <a:spLocks/>
          </p:cNvSpPr>
          <p:nvPr/>
        </p:nvSpPr>
        <p:spPr>
          <a:xfrm>
            <a:off x="720000" y="2487751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Better contract oversight reduces missed obligations. Cross-company interoperability. Foundation for automated compliance (bridge to OSCAL4Rail).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2EFC0D03-EAAB-E48E-D53A-8E21A7B89478}"/>
              </a:ext>
            </a:extLst>
          </p:cNvPr>
          <p:cNvSpPr txBox="1">
            <a:spLocks/>
          </p:cNvSpPr>
          <p:nvPr/>
        </p:nvSpPr>
        <p:spPr>
          <a:xfrm>
            <a:off x="720000" y="1980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economic benefit?</a:t>
            </a:r>
            <a:br>
              <a:rPr lang="en-US" sz="105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reduction in compensation costs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C349F8FA-312E-48E4-ADF1-216DFEEA2856}"/>
              </a:ext>
            </a:extLst>
          </p:cNvPr>
          <p:cNvSpPr txBox="1">
            <a:spLocks/>
          </p:cNvSpPr>
          <p:nvPr/>
        </p:nvSpPr>
        <p:spPr>
          <a:xfrm>
            <a:off x="720000" y="3888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Older contracts (pre-1990, handwritten): lower extraction quality. Multi-language (DE/FR/IT). LLM cost for batch. Data privacy.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E0B90121-88D0-65FC-24AE-1554BFE5A22C}"/>
              </a:ext>
            </a:extLst>
          </p:cNvPr>
          <p:cNvSpPr txBox="1">
            <a:spLocks/>
          </p:cNvSpPr>
          <p:nvPr/>
        </p:nvSpPr>
        <p:spPr>
          <a:xfrm>
            <a:off x="720000" y="3384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positive impacts on the rail system?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attractiveness of rail transport, ecological impacts, ...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EE5432D6-8783-990A-BDDD-EC7623D9AD50}"/>
              </a:ext>
            </a:extLst>
          </p:cNvPr>
          <p:cNvSpPr txBox="1">
            <a:spLocks/>
          </p:cNvSpPr>
          <p:nvPr/>
        </p:nvSpPr>
        <p:spPr>
          <a:xfrm>
            <a:off x="720000" y="5292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LLM extraction: mature (Claude Sonnet 4). PDF parsing (markitdown): production-ready. Taxonomy: prototype. JSON Schema validation: standard.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7C10CABC-15CE-2C83-2BB3-BE4A5E7CBB62}"/>
              </a:ext>
            </a:extLst>
          </p:cNvPr>
          <p:cNvSpPr txBox="1">
            <a:spLocks/>
          </p:cNvSpPr>
          <p:nvPr/>
        </p:nvSpPr>
        <p:spPr>
          <a:xfrm>
            <a:off x="720000" y="4788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maturity level of the technologies used?</a:t>
            </a:r>
          </a:p>
          <a:p>
            <a:r>
              <a:rPr lang="en-US" sz="1050" b="0" i="0" dirty="0">
                <a:solidFill>
                  <a:srgbClr val="334155"/>
                </a:solidFill>
                <a:effectLst/>
              </a:rPr>
              <a:t>May depends on the railway company.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FAF55115-9F61-5DD4-AC88-88CEAA176C07}"/>
              </a:ext>
            </a:extLst>
          </p:cNvPr>
          <p:cNvSpPr txBox="1">
            <a:spLocks/>
          </p:cNvSpPr>
          <p:nvPr/>
        </p:nvSpPr>
        <p:spPr>
          <a:xfrm>
            <a:off x="6096000" y="5292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Ready-to-use prototype delivered. Challenge owners can continue next week. Complete contract classification within next months.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515965EC-1208-909E-5806-BD13D9D7D16F}"/>
              </a:ext>
            </a:extLst>
          </p:cNvPr>
          <p:cNvSpPr txBox="1">
            <a:spLocks/>
          </p:cNvSpPr>
          <p:nvPr/>
        </p:nvSpPr>
        <p:spPr>
          <a:xfrm>
            <a:off x="6096000" y="4788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next Steps? </a:t>
            </a:r>
          </a:p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do you need to implement the solution?</a:t>
            </a:r>
          </a:p>
        </p:txBody>
      </p:sp>
    </p:spTree>
    <p:extLst>
      <p:ext uri="{BB962C8B-B14F-4D97-AF65-F5344CB8AC3E}">
        <p14:creationId xmlns:p14="http://schemas.microsoft.com/office/powerpoint/2010/main" val="233889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7" ma:contentTypeDescription="Ein neues Dokument erstellen." ma:contentTypeScope="" ma:versionID="efa937a253b8a0ad253458d0295c9a6c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af1e72e99746a9a12b0b64b9fe407f72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3B6C51-77D4-4F63-A8EC-8C7A763498FB}">
  <ds:schemaRefs>
    <ds:schemaRef ds:uri="http://schemas.microsoft.com/office/2006/metadata/properties"/>
    <ds:schemaRef ds:uri="http://schemas.microsoft.com/office/infopath/2007/PartnerControls"/>
    <ds:schemaRef ds:uri="b106c448-c3d1-41cc-8fd9-3acb307364b4"/>
    <ds:schemaRef ds:uri="b043894e-b4c8-44d0-9690-d7947297ac19"/>
  </ds:schemaRefs>
</ds:datastoreItem>
</file>

<file path=customXml/itemProps2.xml><?xml version="1.0" encoding="utf-8"?>
<ds:datastoreItem xmlns:ds="http://schemas.openxmlformats.org/officeDocument/2006/customXml" ds:itemID="{B4D14693-25A4-4C1A-ABDC-E6E0CFF1A6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D488EB-8795-4A31-B76F-16B318CFE1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Breitbild</PresentationFormat>
  <Paragraphs>37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</vt:lpstr>
      <vt:lpstr>Challenge Titel</vt:lpstr>
      <vt:lpstr>Description of the Challenge What is the problem/idea? What is the current status?  Focus on important/central points.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Strauß</dc:creator>
  <cp:lastModifiedBy>Kutschker Madeleine (BCC.IN)</cp:lastModifiedBy>
  <cp:revision>5</cp:revision>
  <dcterms:created xsi:type="dcterms:W3CDTF">2025-06-16T07:18:47Z</dcterms:created>
  <dcterms:modified xsi:type="dcterms:W3CDTF">2026-06-17T13:29:21Z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Office:12</vt:lpwstr>
  </property>
  <property fmtid="{D5CDD505-2E9C-101B-9397-08002B2CF9AE}" pid="13" name="ClassificationContentMarkingFooterText">
    <vt:lpwstr>TLP gelb (Adressatenkreis)</vt:lpwstr>
  </property>
</Properties>
</file>