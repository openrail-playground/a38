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6" r:id="rId8"/>
    <p:sldId id="265" r:id="rId9"/>
    <p:sldId id="259" r:id="rId10"/>
    <p:sldId id="261" r:id="rId11"/>
    <p:sldId id="260" r:id="rId12"/>
    <p:sldId id="263" r:id="rId13"/>
    <p:sldId id="262" r:id="rId14"/>
    <p:sldId id="264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736973-93B8-43AB-B5D5-AFCF1EC167BE}" v="2" dt="2025-06-16T07:24:32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24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216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7A67288-9912-7A2D-2A95-545A3C2A5D7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510415" y="362952"/>
            <a:ext cx="543254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err="1"/>
              <a:t>ConTextractors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Automatic Contract Analysis</a:t>
            </a:r>
          </a:p>
          <a:p>
            <a:r>
              <a:rPr dirty="0"/>
              <a:t>Hack4Rail 2026 – Team A38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10’</a:t>
            </a:r>
            <a:r>
              <a:rPr dirty="0"/>
              <a:t>000+ infrastructure contracts (PDF, scans, handwritten)</a:t>
            </a:r>
          </a:p>
          <a:p>
            <a:r>
              <a:rPr dirty="0"/>
              <a:t>Manual classification into SAP/</a:t>
            </a:r>
            <a:r>
              <a:rPr dirty="0" err="1"/>
              <a:t>ContrAct</a:t>
            </a:r>
            <a:endParaRPr dirty="0"/>
          </a:p>
          <a:p>
            <a:r>
              <a:rPr dirty="0"/>
              <a:t>4-level taxonomy × 3 languages (DE/FR/IT)</a:t>
            </a:r>
          </a:p>
          <a:p>
            <a:r>
              <a:rPr dirty="0"/>
              <a:t>13 fields per contract + cost sharing + dependencies</a:t>
            </a:r>
          </a:p>
          <a:p>
            <a:r>
              <a:rPr dirty="0"/>
              <a:t>Error-prone: humans make mistakes under volume</a:t>
            </a:r>
          </a:p>
          <a:p>
            <a:endParaRPr dirty="0"/>
          </a:p>
          <a:p>
            <a:r>
              <a:rPr dirty="0"/>
              <a:t>→ "Here are 5 contracts. Sort them by this schema."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Today: Manual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Humans read PDFs and fill a spreadsheet (33 columns)</a:t>
            </a:r>
          </a:p>
          <a:p>
            <a:r>
              <a:rPr dirty="0" err="1"/>
              <a:t>Masterdatei</a:t>
            </a:r>
            <a:r>
              <a:rPr dirty="0"/>
              <a:t> H4R.xlsx – manually maintained</a:t>
            </a:r>
          </a:p>
          <a:p>
            <a:r>
              <a:rPr dirty="0"/>
              <a:t>Slow, expensive, error-prone</a:t>
            </a:r>
          </a:p>
          <a:p>
            <a:r>
              <a:rPr dirty="0"/>
              <a:t>Some contracts from 1926 – handwritten fields</a:t>
            </a:r>
          </a:p>
          <a:p>
            <a:endParaRPr dirty="0"/>
          </a:p>
          <a:p>
            <a:r>
              <a:rPr dirty="0"/>
              <a:t>🕐 </a:t>
            </a:r>
            <a:r>
              <a:rPr lang="de-CH" dirty="0"/>
              <a:t>10’</a:t>
            </a:r>
            <a:r>
              <a:rPr dirty="0"/>
              <a:t>000 contracts × 30 min = </a:t>
            </a:r>
            <a:r>
              <a:rPr lang="de-CH" dirty="0"/>
              <a:t>5’0</a:t>
            </a:r>
            <a:r>
              <a:rPr dirty="0"/>
              <a:t>00 hours = </a:t>
            </a:r>
            <a:r>
              <a:rPr lang="de-CH" dirty="0"/>
              <a:t>3</a:t>
            </a:r>
            <a:r>
              <a:rPr dirty="0"/>
              <a:t> FTE/year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6AF53-93C8-67B6-105D-38D563D2C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53E54-236B-38C2-F09B-ACC3EC53D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CH" dirty="0"/>
              <a:t>/</a:t>
            </a:r>
            <a:r>
              <a:rPr dirty="0"/>
              <a:t>The Problem</a:t>
            </a:r>
            <a:r>
              <a:rPr lang="de-CH" dirty="0"/>
              <a:t>/</a:t>
            </a:r>
            <a:endParaRPr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FEF7DE2-80F3-F33C-18E4-61FAD4EF1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09800"/>
            <a:ext cx="2438400" cy="243840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D7E92340-644D-E54D-D100-7E17F77FC323}"/>
              </a:ext>
            </a:extLst>
          </p:cNvPr>
          <p:cNvSpPr txBox="1"/>
          <p:nvPr/>
        </p:nvSpPr>
        <p:spPr>
          <a:xfrm>
            <a:off x="838200" y="5168348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10’000+ </a:t>
            </a:r>
            <a:r>
              <a:rPr lang="de-CH" dirty="0" err="1"/>
              <a:t>infrastructure</a:t>
            </a:r>
            <a:r>
              <a:rPr lang="de-CH" dirty="0"/>
              <a:t> </a:t>
            </a:r>
            <a:r>
              <a:rPr lang="de-CH" dirty="0" err="1"/>
              <a:t>contracts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5F6BAF1-DD40-642D-3DEB-714020B5CE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008" y="1867418"/>
            <a:ext cx="3124200" cy="31242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CF71295-823F-5569-CE13-4BAFDEEED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479" y="3099794"/>
            <a:ext cx="658411" cy="658411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2DE0466A-C88B-2CB4-E1D7-5DFAD7863ACB}"/>
              </a:ext>
            </a:extLst>
          </p:cNvPr>
          <p:cNvSpPr txBox="1"/>
          <p:nvPr/>
        </p:nvSpPr>
        <p:spPr>
          <a:xfrm>
            <a:off x="4244008" y="5168348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Manuel </a:t>
            </a:r>
            <a:r>
              <a:rPr lang="de-CH" dirty="0" err="1"/>
              <a:t>work</a:t>
            </a:r>
            <a:r>
              <a:rPr lang="de-CH" dirty="0"/>
              <a:t>, slow &amp;</a:t>
            </a:r>
          </a:p>
          <a:p>
            <a:pPr algn="ctr"/>
            <a:r>
              <a:rPr lang="de-CH" dirty="0"/>
              <a:t>expensive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B2119DD-EDAB-4AD0-66AD-ECD350241F36}"/>
              </a:ext>
            </a:extLst>
          </p:cNvPr>
          <p:cNvSpPr txBox="1"/>
          <p:nvPr/>
        </p:nvSpPr>
        <p:spPr>
          <a:xfrm>
            <a:off x="8335616" y="5167830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contracts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1926</a:t>
            </a:r>
          </a:p>
          <a:p>
            <a:pPr algn="ctr"/>
            <a:r>
              <a:rPr lang="de-DE" dirty="0"/>
              <a:t>&amp; </a:t>
            </a:r>
            <a:r>
              <a:rPr lang="de-DE" dirty="0" err="1"/>
              <a:t>handwritten</a:t>
            </a:r>
            <a:endParaRPr lang="de-DE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11327CB7-8B3B-C9E7-654D-219C9F4FE9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490" y="2286234"/>
            <a:ext cx="2617526" cy="2617526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14429CA5-D175-8511-54F2-7B9AC4850F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825" y="3428999"/>
            <a:ext cx="658411" cy="65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876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0EE9C7-06D3-2546-656A-6CC33CD9B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1515"/>
          </a:xfrm>
        </p:spPr>
        <p:txBody>
          <a:bodyPr>
            <a:normAutofit fontScale="90000"/>
          </a:bodyPr>
          <a:lstStyle/>
          <a:p>
            <a:pPr algn="ctr"/>
            <a:r>
              <a:rPr lang="de-CH" dirty="0"/>
              <a:t>/</a:t>
            </a:r>
            <a:r>
              <a:rPr lang="de-CH" dirty="0" err="1"/>
              <a:t>Our</a:t>
            </a:r>
            <a:r>
              <a:rPr lang="de-CH" dirty="0"/>
              <a:t> Solution/</a:t>
            </a:r>
            <a:br>
              <a:rPr lang="de-CH" dirty="0"/>
            </a:br>
            <a:r>
              <a:rPr lang="de-CH" sz="2700" dirty="0" err="1"/>
              <a:t>Taxonomy</a:t>
            </a:r>
            <a:r>
              <a:rPr lang="de-CH" sz="2700" dirty="0"/>
              <a:t> + LLM Pipeline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65F3974-A75A-A222-B11E-253AED8EBA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20" y="3949368"/>
            <a:ext cx="3564835" cy="356483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38E623D-D117-C85A-AB3B-11E5922A7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659" y="3949367"/>
            <a:ext cx="3564835" cy="3564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27C22C4-4DA4-AC17-3B65-8F5DB3F86F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598" y="3949366"/>
            <a:ext cx="3564835" cy="356483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DB1050C-9B27-D10A-FAEF-4A82202C03BF}"/>
              </a:ext>
            </a:extLst>
          </p:cNvPr>
          <p:cNvSpPr txBox="1"/>
          <p:nvPr/>
        </p:nvSpPr>
        <p:spPr>
          <a:xfrm>
            <a:off x="981987" y="1918041"/>
            <a:ext cx="283640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1</a:t>
            </a:r>
            <a:r>
              <a:rPr lang="de-CH" dirty="0"/>
              <a:t> Create </a:t>
            </a:r>
            <a:r>
              <a:rPr lang="de-CH" dirty="0" err="1"/>
              <a:t>Taxonomy</a:t>
            </a:r>
            <a:endParaRPr lang="de-CH" dirty="0"/>
          </a:p>
          <a:p>
            <a:endParaRPr lang="de-CH" dirty="0"/>
          </a:p>
          <a:p>
            <a:r>
              <a:rPr lang="de-CH" dirty="0" err="1"/>
              <a:t>taxonomy.yaml</a:t>
            </a:r>
            <a:endParaRPr lang="de-CH" dirty="0"/>
          </a:p>
          <a:p>
            <a:r>
              <a:rPr lang="de-CH" dirty="0"/>
              <a:t>  → </a:t>
            </a:r>
            <a:r>
              <a:rPr lang="de-CH" dirty="0" err="1"/>
              <a:t>Contract</a:t>
            </a:r>
            <a:r>
              <a:rPr lang="de-CH" dirty="0"/>
              <a:t> </a:t>
            </a:r>
            <a:r>
              <a:rPr lang="de-CH" dirty="0" err="1"/>
              <a:t>types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machine-readable</a:t>
            </a:r>
            <a:r>
              <a:rPr lang="de-CH" dirty="0"/>
              <a:t> </a:t>
            </a:r>
            <a:r>
              <a:rPr lang="de-CH" dirty="0" err="1"/>
              <a:t>schema</a:t>
            </a:r>
            <a:endParaRPr lang="de-CH" dirty="0"/>
          </a:p>
          <a:p>
            <a:r>
              <a:rPr lang="de-CH" dirty="0"/>
              <a:t>  → 3 </a:t>
            </a:r>
            <a:r>
              <a:rPr lang="de-CH" dirty="0" err="1"/>
              <a:t>disjoint</a:t>
            </a:r>
            <a:r>
              <a:rPr lang="de-CH" dirty="0"/>
              <a:t> building-block </a:t>
            </a:r>
            <a:r>
              <a:rPr lang="de-CH" dirty="0" err="1"/>
              <a:t>pools</a:t>
            </a:r>
            <a:endParaRPr lang="de-CH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95815F-C9A8-F035-5288-7B7FF04DB54E}"/>
              </a:ext>
            </a:extLst>
          </p:cNvPr>
          <p:cNvSpPr txBox="1"/>
          <p:nvPr/>
        </p:nvSpPr>
        <p:spPr>
          <a:xfrm>
            <a:off x="4483873" y="1918041"/>
            <a:ext cx="283640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2</a:t>
            </a:r>
            <a:r>
              <a:rPr lang="de-CH" dirty="0"/>
              <a:t> </a:t>
            </a:r>
            <a:r>
              <a:rPr lang="de-CH" dirty="0" err="1"/>
              <a:t>Extraction</a:t>
            </a:r>
            <a:r>
              <a:rPr lang="de-CH" dirty="0"/>
              <a:t> Pipeline</a:t>
            </a:r>
          </a:p>
          <a:p>
            <a:endParaRPr lang="de-CH" dirty="0"/>
          </a:p>
          <a:p>
            <a:endParaRPr lang="de-CH" dirty="0"/>
          </a:p>
          <a:p>
            <a:r>
              <a:rPr lang="de-CH" dirty="0"/>
              <a:t>  PDF → </a:t>
            </a:r>
            <a:r>
              <a:rPr lang="de-CH" dirty="0" err="1"/>
              <a:t>markitdown</a:t>
            </a:r>
            <a:r>
              <a:rPr lang="de-CH" dirty="0"/>
              <a:t> → LLM + System Prompt → JSON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307A0D1-A506-3AEB-9EA0-4D802F92D291}"/>
              </a:ext>
            </a:extLst>
          </p:cNvPr>
          <p:cNvSpPr txBox="1"/>
          <p:nvPr/>
        </p:nvSpPr>
        <p:spPr>
          <a:xfrm>
            <a:off x="7985759" y="1918041"/>
            <a:ext cx="28364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3</a:t>
            </a:r>
            <a:r>
              <a:rPr lang="de-CH" dirty="0"/>
              <a:t> Validation</a:t>
            </a:r>
          </a:p>
          <a:p>
            <a:endParaRPr lang="de-CH" dirty="0"/>
          </a:p>
          <a:p>
            <a:r>
              <a:rPr lang="de-CH" dirty="0"/>
              <a:t>  → Quality </a:t>
            </a:r>
            <a:r>
              <a:rPr lang="de-CH" dirty="0" err="1"/>
              <a:t>indicator</a:t>
            </a:r>
            <a:r>
              <a:rPr lang="de-CH" dirty="0"/>
              <a:t> + source </a:t>
            </a:r>
            <a:r>
              <a:rPr lang="de-CH" dirty="0" err="1"/>
              <a:t>reference</a:t>
            </a:r>
            <a:r>
              <a:rPr lang="de-CH" dirty="0"/>
              <a:t> per </a:t>
            </a:r>
            <a:r>
              <a:rPr lang="de-CH" dirty="0" err="1"/>
              <a:t>field</a:t>
            </a:r>
            <a:endParaRPr lang="de-CH" dirty="0"/>
          </a:p>
          <a:p>
            <a:r>
              <a:rPr lang="de-CH" dirty="0"/>
              <a:t>  → Only </a:t>
            </a:r>
            <a:r>
              <a:rPr lang="de-CH" dirty="0" err="1"/>
              <a:t>allowed</a:t>
            </a:r>
            <a:r>
              <a:rPr lang="de-CH" dirty="0"/>
              <a:t> </a:t>
            </a:r>
            <a:r>
              <a:rPr lang="de-CH" dirty="0" err="1"/>
              <a:t>taxonomy</a:t>
            </a:r>
            <a:r>
              <a:rPr lang="de-CH" dirty="0"/>
              <a:t> </a:t>
            </a:r>
            <a:r>
              <a:rPr lang="de-CH" dirty="0" err="1"/>
              <a:t>combinations</a:t>
            </a:r>
            <a:r>
              <a:rPr lang="de-CH" dirty="0"/>
              <a:t> pass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FB1307D-9700-4E94-F1A3-3488418818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910" y="3949366"/>
            <a:ext cx="1298050" cy="12980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CB81319B-6CD2-56AE-1F3F-0FA25238DA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464" y="4108226"/>
            <a:ext cx="1139190" cy="113919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AE79831-E45A-8A77-295B-DBFBEDAC98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4024" y="4028451"/>
            <a:ext cx="1139879" cy="1139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521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Our Solution: Taxonomy + LLM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Step 1: </a:t>
            </a:r>
            <a:r>
              <a:rPr dirty="0" err="1"/>
              <a:t>taxonomy.yaml</a:t>
            </a:r>
            <a:endParaRPr dirty="0"/>
          </a:p>
          <a:p>
            <a:r>
              <a:rPr dirty="0"/>
              <a:t>  → Contract types as machine-readable schema</a:t>
            </a:r>
          </a:p>
          <a:p>
            <a:r>
              <a:rPr dirty="0"/>
              <a:t>  → 3 disjoint building-block pools</a:t>
            </a:r>
          </a:p>
          <a:p>
            <a:endParaRPr dirty="0"/>
          </a:p>
          <a:p>
            <a:r>
              <a:rPr dirty="0"/>
              <a:t>Step 2: Extraction Pipeline</a:t>
            </a:r>
          </a:p>
          <a:p>
            <a:r>
              <a:rPr dirty="0"/>
              <a:t>  PDF → </a:t>
            </a:r>
            <a:r>
              <a:rPr dirty="0" err="1"/>
              <a:t>markitdown</a:t>
            </a:r>
            <a:r>
              <a:rPr dirty="0"/>
              <a:t> → LLM + System Prompt → JSON</a:t>
            </a:r>
          </a:p>
          <a:p>
            <a:endParaRPr dirty="0"/>
          </a:p>
          <a:p>
            <a:r>
              <a:rPr dirty="0"/>
              <a:t>Step 3: Validation</a:t>
            </a:r>
          </a:p>
          <a:p>
            <a:r>
              <a:rPr dirty="0"/>
              <a:t>  → Quality indicator + source reference per field</a:t>
            </a:r>
          </a:p>
          <a:p>
            <a:r>
              <a:rPr dirty="0"/>
              <a:t>  → Only allowed taxonomy combinations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Results: AI vs. Human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Test: Contract 90051045 (ASTRA/SBB Bridge </a:t>
            </a:r>
            <a:r>
              <a:rPr dirty="0" err="1"/>
              <a:t>Balsberg</a:t>
            </a:r>
            <a:r>
              <a:rPr dirty="0"/>
              <a:t>)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✅ 7/10 fields match with </a:t>
            </a:r>
            <a:r>
              <a:rPr dirty="0" err="1"/>
              <a:t>Masterdatei</a:t>
            </a:r>
            <a:endParaRPr dirty="0"/>
          </a:p>
          <a:p>
            <a:pPr marL="0" indent="0">
              <a:buNone/>
            </a:pPr>
            <a:r>
              <a:rPr dirty="0"/>
              <a:t>✅ Cost split correctly extracted (CHF 15.8M, 45%/55%)</a:t>
            </a:r>
          </a:p>
          <a:p>
            <a:pPr marL="0" indent="0">
              <a:buNone/>
            </a:pPr>
            <a:r>
              <a:rPr dirty="0"/>
              <a:t>✅ Predecessor contract identified (from 1968)</a:t>
            </a:r>
          </a:p>
          <a:p>
            <a:pPr marL="0" indent="0">
              <a:buNone/>
            </a:pPr>
            <a:endParaRPr dirty="0"/>
          </a:p>
          <a:p>
            <a:pPr marL="0" indent="0" algn="ctr">
              <a:buNone/>
            </a:pPr>
            <a:r>
              <a:rPr dirty="0"/>
              <a:t> 1 field: AI is </a:t>
            </a:r>
            <a:r>
              <a:rPr dirty="0">
                <a:solidFill>
                  <a:srgbClr val="FF0000"/>
                </a:solidFill>
              </a:rPr>
              <a:t>MORE CORRECT </a:t>
            </a:r>
            <a:r>
              <a:rPr dirty="0"/>
              <a:t>than human data!</a:t>
            </a:r>
            <a:br>
              <a:rPr lang="de-CH" dirty="0"/>
            </a:br>
            <a:endParaRPr lang="de-CH" dirty="0"/>
          </a:p>
          <a:p>
            <a:pPr marL="0" indent="0" algn="ctr">
              <a:buNone/>
            </a:pPr>
            <a:r>
              <a:rPr lang="de-CH" sz="2400" dirty="0"/>
              <a:t>❌ </a:t>
            </a:r>
            <a:r>
              <a:rPr dirty="0" err="1"/>
              <a:t>Masterdatei</a:t>
            </a:r>
            <a:r>
              <a:rPr dirty="0"/>
              <a:t>: "</a:t>
            </a:r>
            <a:r>
              <a:rPr dirty="0" err="1"/>
              <a:t>Bahnübergang</a:t>
            </a:r>
            <a:r>
              <a:rPr dirty="0"/>
              <a:t>"</a:t>
            </a:r>
            <a:r>
              <a:rPr lang="de-CH" dirty="0"/>
              <a:t> &lt;-&gt; </a:t>
            </a:r>
            <a:r>
              <a:rPr dirty="0"/>
              <a:t>Contract says: "</a:t>
            </a:r>
            <a:r>
              <a:rPr dirty="0" err="1"/>
              <a:t>Bahnbrücke</a:t>
            </a:r>
            <a:r>
              <a:rPr dirty="0"/>
              <a:t>"</a:t>
            </a:r>
            <a:r>
              <a:rPr lang="de-CH" dirty="0"/>
              <a:t> ✅ </a:t>
            </a:r>
            <a:endParaRPr dirty="0"/>
          </a:p>
          <a:p>
            <a:pPr marL="0" indent="0" algn="ctr">
              <a:buNone/>
            </a:pPr>
            <a:endParaRPr dirty="0"/>
          </a:p>
          <a:p>
            <a:pPr marL="0" indent="0" algn="ctr">
              <a:buNone/>
            </a:pPr>
            <a:r>
              <a:rPr dirty="0">
                <a:solidFill>
                  <a:srgbClr val="FF0000"/>
                </a:solidFill>
              </a:rPr>
              <a:t>→ The AI found an error humans missed.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Taxonomy (4 Levels)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Ebene 1: Infrastrukturverträge</a:t>
            </a:r>
          </a:p>
          <a:p>
            <a:r>
              <a:t>├─ Ebene 2: Zusammenarbeit bei Anlagen</a:t>
            </a:r>
          </a:p>
          <a:p>
            <a:r>
              <a:t>│  └─ Ebene 3: Phases (V1–V4)</a:t>
            </a:r>
          </a:p>
          <a:p>
            <a:r>
              <a:t>│     └─ Ebene 4: Pool A (9 building blocks)</a:t>
            </a:r>
          </a:p>
          <a:p>
            <a:r>
              <a:t>└─ Ebene 2: Grundstücknutzung</a:t>
            </a:r>
          </a:p>
          <a:p>
            <a:r>
              <a:t>   ├─ Ebene 3: Nutzungsverträge → Pool B (4)</a:t>
            </a:r>
          </a:p>
          <a:p>
            <a:r>
              <a:t>   └─ Ebene 3: Bauten Dritter → Pool C (2)</a:t>
            </a:r>
          </a:p>
          <a:p>
            <a:endParaRPr/>
          </a:p>
          <a:p>
            <a:r>
              <a:t>3 disjoint pools – validated combinations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Roadmap: Manual → Automated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dirty="0"/>
              <a:t>TODAY (Hackathon)</a:t>
            </a:r>
          </a:p>
          <a:p>
            <a:r>
              <a:rPr dirty="0"/>
              <a:t>  </a:t>
            </a:r>
            <a:r>
              <a:rPr lang="de-CH" dirty="0"/>
              <a:t>2</a:t>
            </a:r>
            <a:r>
              <a:rPr dirty="0"/>
              <a:t> contract, manual QA, 2 LLMs</a:t>
            </a:r>
          </a:p>
          <a:p>
            <a:endParaRPr dirty="0"/>
          </a:p>
          <a:p>
            <a:r>
              <a:rPr dirty="0"/>
              <a:t>NEXT (3–6 months)</a:t>
            </a:r>
          </a:p>
          <a:p>
            <a:r>
              <a:rPr dirty="0"/>
              <a:t>  Batch </a:t>
            </a:r>
            <a:r>
              <a:rPr lang="de-CH" dirty="0"/>
              <a:t>10</a:t>
            </a:r>
            <a:r>
              <a:rPr dirty="0"/>
              <a:t>,000 contracts, Human-in-the-Loop, SAP Prefill</a:t>
            </a:r>
          </a:p>
          <a:p>
            <a:endParaRPr dirty="0"/>
          </a:p>
          <a:p>
            <a:r>
              <a:rPr dirty="0"/>
              <a:t>FUTURE</a:t>
            </a:r>
          </a:p>
          <a:p>
            <a:r>
              <a:rPr dirty="0"/>
              <a:t>  Asset linking (contract → physical structure via UUID)</a:t>
            </a:r>
          </a:p>
          <a:p>
            <a:r>
              <a:rPr dirty="0"/>
              <a:t>  Contract relationship graph</a:t>
            </a:r>
          </a:p>
          <a:p>
            <a:r>
              <a:rPr dirty="0"/>
              <a:t>  Cross-railway: DB / ÖBB / SBB</a:t>
            </a:r>
          </a:p>
          <a:p>
            <a:r>
              <a:rPr dirty="0"/>
              <a:t>  Compliance check vs. OSCAL4Rail (Challenge 1)</a:t>
            </a:r>
          </a:p>
          <a:p>
            <a:endParaRPr dirty="0"/>
          </a:p>
          <a:p>
            <a:r>
              <a:rPr dirty="0"/>
              <a:t>⚡ The AI proposes, the human decides.</a:t>
            </a:r>
          </a:p>
          <a:p>
            <a:r>
              <a:rPr dirty="0"/>
              <a:t>   Uncertain fields always go to human verification.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Multi-LLM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Same prompt, same input – two models:</a:t>
            </a:r>
          </a:p>
          <a:p>
            <a:endParaRPr/>
          </a:p>
          <a:p>
            <a:r>
              <a:t>• Claude Sonnet 4 (Anthropic) → ✅ validated</a:t>
            </a:r>
          </a:p>
          <a:p>
            <a:r>
              <a:t>• Cortex (SBB internal) → results pending</a:t>
            </a:r>
          </a:p>
          <a:p>
            <a:endParaRPr/>
          </a:p>
          <a:p>
            <a:r>
              <a:t>→ Cross-model validation increases confidence</a:t>
            </a:r>
          </a:p>
          <a:p>
            <a:r>
              <a:t>→ Quality indicators: eindeutig / abgeleitet / fehlend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 are the ConTextractors.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t>Contract + Text + Extractors</a:t>
            </a:r>
          </a:p>
          <a:p>
            <a:endParaRPr/>
          </a:p>
          <a:p>
            <a:r>
              <a:t>From Aktenordner to structured, validated data.</a:t>
            </a:r>
          </a:p>
          <a:p>
            <a:r>
              <a:t>With source references. In seconds, not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6_H4R_PPTMaster" id="{A8D19306-7F92-3741-8E9B-1996A972416B}" vid="{4B0AC7A3-DE22-B748-A902-9C1F40428DB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8" ma:contentTypeDescription="Ein neues Dokument erstellen." ma:contentTypeScope="" ma:versionID="ca18c32604eb9eb075bdd5b520f76d7f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0e0a0918b2fa3636e306fde1bc5c258b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7CF5FD6-43E2-4C9A-9372-C9D60EE1772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D2420F-AFAE-4394-AC5D-D74FCC39CD53}">
  <ds:schemaRefs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043894e-b4c8-44d0-9690-d7947297ac19"/>
    <ds:schemaRef ds:uri="http://schemas.microsoft.com/office/2006/documentManagement/types"/>
    <ds:schemaRef ds:uri="b106c448-c3d1-41cc-8fd9-3acb307364b4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0BED3A9D-D1E4-45EA-8B49-CB6F60C2A9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  <clbl:label id="{3dac9f92-1d4e-4aae-b975-a9900684008d}" enabled="1" method="Standard" siteId="{a1a72d9c-49e6-4f6d-9af6-5aafa1183bf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578</Words>
  <Application>Microsoft Macintosh PowerPoint</Application>
  <PresentationFormat>Breitbild</PresentationFormat>
  <Paragraphs>98</Paragraphs>
  <Slides>11</Slides>
  <Notes>0</Notes>
  <HiddenSlides>4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</vt:lpstr>
      <vt:lpstr>ConTextractors</vt:lpstr>
      <vt:lpstr>The Problem</vt:lpstr>
      <vt:lpstr>Today: Manual Extraction</vt:lpstr>
      <vt:lpstr>/The Problem/</vt:lpstr>
      <vt:lpstr>/Our Solution/ Taxonomy + LLM Pipeline</vt:lpstr>
      <vt:lpstr>Our Solution: Taxonomy + LLM Pipeline</vt:lpstr>
      <vt:lpstr>Results: AI vs. Human</vt:lpstr>
      <vt:lpstr>Contract Taxonomy (4 Levels)</vt:lpstr>
      <vt:lpstr>Roadmap: Manual → Automated</vt:lpstr>
      <vt:lpstr>Multi-LLM Verification</vt:lpstr>
      <vt:lpstr>We are the ConTextractors.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Grote</dc:creator>
  <cp:lastModifiedBy>Simon Nölle</cp:lastModifiedBy>
  <cp:revision>5</cp:revision>
  <dcterms:created xsi:type="dcterms:W3CDTF">2026-06-23T13:11:35Z</dcterms:created>
  <dcterms:modified xsi:type="dcterms:W3CDTF">2026-06-23T14:37:43Z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Office:9</vt:lpwstr>
  </property>
  <property fmtid="{D5CDD505-2E9C-101B-9397-08002B2CF9AE}" pid="13" name="ClassificationContentMarkingFooterText">
    <vt:lpwstr>TLP gelb (Adressatenkreis)</vt:lpwstr>
  </property>
</Properties>
</file>