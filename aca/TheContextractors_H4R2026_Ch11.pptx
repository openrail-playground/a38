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66" r:id="rId8"/>
    <p:sldId id="265" r:id="rId9"/>
    <p:sldId id="259" r:id="rId10"/>
    <p:sldId id="261" r:id="rId11"/>
    <p:sldId id="260" r:id="rId12"/>
    <p:sldId id="263" r:id="rId13"/>
    <p:sldId id="262" r:id="rId14"/>
    <p:sldId id="264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736973-93B8-43AB-B5D5-AFCF1EC167BE}" v="2" dt="2025-06-16T07:24:32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44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6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0F720-8D32-6BAD-8FC7-55C3EC778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8C2146-660A-AE7C-0329-D018D311B3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5171BE-FD78-76A8-6B80-48367763E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B6DB5D-D71E-108F-466B-F91D2C807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C3ADE4-6B4C-F03A-045E-F6F055DA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0440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4DD735-BDD1-94F6-947C-3B25372A2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9D8038-CC07-BF42-C180-8213F6092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B5BDC6-CB74-9C08-B136-A4BC672E4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169B60-6007-2DBA-498D-F9DD35632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B44393-FFCD-986E-BD72-B043CB54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5233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F18F37-2345-A019-5A40-FCFC1B65C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864E25-78F6-D8C8-4927-DE8FD5D0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A7F423-0307-C9C0-64D9-B44A22DAB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067E8B-CE77-7EB1-A96D-E6233E35B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B2ECE-5BD1-3A50-8A0C-C7377678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053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CEEA1-3EDA-9C07-C68A-B91F45D1E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FB1FBE-ACB9-17CF-35FE-F544523B8D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BE1FF5-D165-C3D9-D009-54088DA2C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DBB3C3-4B11-A8D5-FFC8-5D5EA1F7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C073DF-35D5-F739-65B9-A57A2F2F1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04A1FD-63C3-0251-81C3-FE9BEA5E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20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990512-17C2-7AF1-E6AB-0FCF669BE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C6E44D-923F-EED5-A232-69A34590D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A6F1B74-D075-1C08-1133-1FF3F0EAA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E7FD04D-9D7B-F3EC-5939-F6F1B8020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BB85E1D-824B-FBD1-48C6-4AEA38582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C4EE23-62B7-2ADF-BDD6-16EBA027B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D14211-2778-80B5-09A7-D692AF67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CE239C4-616C-C451-0F5D-E6E42A7C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58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23389-CF91-D54F-1BF0-E835245EE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46169B-829B-590E-E9AC-4F7E08D94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D033D54-559D-C62E-4A4B-ACC5B365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CABE68-C7F2-6F9B-E453-D3661FFB0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233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20E3135-8B3B-54AC-85DC-D91FD0DC5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D6C95FA-FD79-8400-617F-FA55B36B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B5510F-2C87-7BD6-9F43-0531D63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56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83582-0F38-B1B0-EF23-B1DE29E8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D2929C-C896-607D-BFD1-1B99E8B18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3CF0998-1E97-ACA5-EA0D-B4EE0654B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D9FEF5-1005-2970-CE12-A0C0CDB3C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679C54-569B-0D21-0EFB-237FC789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B40808-4539-2A37-5A17-CC1F436D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6376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B77623-19B5-91DE-F760-E886DBEAE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67D6CE4-044E-8380-AB10-2590AEC8CB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CB0F65-BCCD-F72F-1905-1095C7DF6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4837F0-EE1A-7981-C710-9A818DA87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226F3F-B5B3-2C74-F02D-3E401C00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C8464-AB5F-231E-0165-6640E224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06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19370-FC31-BA4E-6845-33A053DB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DAC76CE-BA41-D293-E213-79C6E60A9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50960E-8F1C-2BB9-FAF0-81A292C5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F09603-E9D8-19AA-E598-29E1050D8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0CC994-479E-32BA-1C9D-DEA19D5B3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2968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1C970BE-25B3-EFF7-7DE9-41209FEC58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B581558-0B33-6026-F9EA-CD06BF61A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B87AC9-5C5C-35B5-4B5C-AB6B3680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20FAC1-04C2-DBED-815F-F2F20C396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8C25C6-03BF-BA3C-18D7-63B20956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941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4C124E-7B17-B2FD-9D2F-DDB0A07A7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4BF6DF-E280-5E3C-E0DE-8013715D4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BA836C-2514-E8BA-CA51-983C4515C4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B1274-0C59-E38E-FEC9-32A44E98E7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DCA194-377F-8AA7-C447-59152C00A8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7A67288-9912-7A2D-2A95-545A3C2A5D7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510415" y="362952"/>
            <a:ext cx="543254" cy="7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61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err="1"/>
              <a:t>ConTextractors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Automatic Contract Analysis</a:t>
            </a:r>
          </a:p>
          <a:p>
            <a:r>
              <a:rPr dirty="0"/>
              <a:t>Hack4Rail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10’</a:t>
            </a:r>
            <a:r>
              <a:rPr dirty="0"/>
              <a:t>000+ infrastructure contracts (PDF, scans, handwritten)</a:t>
            </a:r>
          </a:p>
          <a:p>
            <a:r>
              <a:rPr dirty="0"/>
              <a:t>Manual classification into SAP/</a:t>
            </a:r>
            <a:r>
              <a:rPr dirty="0" err="1"/>
              <a:t>ContrAct</a:t>
            </a:r>
            <a:endParaRPr dirty="0"/>
          </a:p>
          <a:p>
            <a:r>
              <a:rPr dirty="0"/>
              <a:t>4-level taxonomy × 3 languages (DE/FR/IT)</a:t>
            </a:r>
          </a:p>
          <a:p>
            <a:r>
              <a:rPr dirty="0"/>
              <a:t>13 fields per contract + cost sharing + dependencies</a:t>
            </a:r>
          </a:p>
          <a:p>
            <a:r>
              <a:rPr dirty="0"/>
              <a:t>Error-prone: humans make mistakes under volume</a:t>
            </a:r>
          </a:p>
          <a:p>
            <a:endParaRPr dirty="0"/>
          </a:p>
          <a:p>
            <a:r>
              <a:rPr dirty="0"/>
              <a:t>→ "Here are 5 contracts. Sort them by this schema."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Today: Manual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Humans read PDFs and fill a spreadsheet (33 columns)</a:t>
            </a:r>
          </a:p>
          <a:p>
            <a:r>
              <a:rPr dirty="0" err="1"/>
              <a:t>Masterdatei</a:t>
            </a:r>
            <a:r>
              <a:rPr dirty="0"/>
              <a:t> H4R.xlsx – manually maintained</a:t>
            </a:r>
          </a:p>
          <a:p>
            <a:r>
              <a:rPr dirty="0"/>
              <a:t>Slow, expensive, error-prone</a:t>
            </a:r>
          </a:p>
          <a:p>
            <a:r>
              <a:rPr dirty="0"/>
              <a:t>Some contracts from 1926 – handwritten fields</a:t>
            </a:r>
          </a:p>
          <a:p>
            <a:endParaRPr dirty="0"/>
          </a:p>
          <a:p>
            <a:r>
              <a:rPr dirty="0"/>
              <a:t>🕐 </a:t>
            </a:r>
            <a:r>
              <a:rPr lang="de-CH" dirty="0"/>
              <a:t>10’</a:t>
            </a:r>
            <a:r>
              <a:rPr dirty="0"/>
              <a:t>000 contracts × 30 min = </a:t>
            </a:r>
            <a:r>
              <a:rPr lang="de-CH" dirty="0"/>
              <a:t>5’0</a:t>
            </a:r>
            <a:r>
              <a:rPr dirty="0"/>
              <a:t>00 hours = </a:t>
            </a:r>
            <a:r>
              <a:rPr lang="de-CH" dirty="0"/>
              <a:t>3</a:t>
            </a:r>
            <a:r>
              <a:rPr dirty="0"/>
              <a:t> FTE/year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6AF53-93C8-67B6-105D-38D563D2C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53E54-236B-38C2-F09B-ACC3EC53D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CH" dirty="0"/>
              <a:t>/</a:t>
            </a:r>
            <a:r>
              <a:rPr dirty="0"/>
              <a:t>The Problem</a:t>
            </a:r>
            <a:r>
              <a:rPr lang="de-CH" dirty="0"/>
              <a:t>/</a:t>
            </a:r>
            <a:endParaRPr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FEF7DE2-80F3-F33C-18E4-61FAD4EF1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09800"/>
            <a:ext cx="2438400" cy="243840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D7E92340-644D-E54D-D100-7E17F77FC323}"/>
              </a:ext>
            </a:extLst>
          </p:cNvPr>
          <p:cNvSpPr txBox="1"/>
          <p:nvPr/>
        </p:nvSpPr>
        <p:spPr>
          <a:xfrm>
            <a:off x="838200" y="5168348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10’000+ </a:t>
            </a:r>
            <a:r>
              <a:rPr lang="de-CH" dirty="0" err="1"/>
              <a:t>infrastructure</a:t>
            </a:r>
            <a:r>
              <a:rPr lang="de-CH" dirty="0"/>
              <a:t> </a:t>
            </a:r>
            <a:r>
              <a:rPr lang="de-CH" dirty="0" err="1"/>
              <a:t>contracts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5F6BAF1-DD40-642D-3DEB-714020B5CE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4008" y="1867418"/>
            <a:ext cx="3124200" cy="31242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CF71295-823F-5569-CE13-4BAFDEEEDF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479" y="3099794"/>
            <a:ext cx="658411" cy="658411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2DE0466A-C88B-2CB4-E1D7-5DFAD7863ACB}"/>
              </a:ext>
            </a:extLst>
          </p:cNvPr>
          <p:cNvSpPr txBox="1"/>
          <p:nvPr/>
        </p:nvSpPr>
        <p:spPr>
          <a:xfrm>
            <a:off x="4244008" y="5168348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Manuel </a:t>
            </a:r>
            <a:r>
              <a:rPr lang="de-CH" dirty="0" err="1"/>
              <a:t>work</a:t>
            </a:r>
            <a:r>
              <a:rPr lang="de-CH" dirty="0"/>
              <a:t>, slow &amp;</a:t>
            </a:r>
          </a:p>
          <a:p>
            <a:pPr algn="ctr"/>
            <a:r>
              <a:rPr lang="de-CH" dirty="0"/>
              <a:t>expensive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BB2119DD-EDAB-4AD0-66AD-ECD350241F36}"/>
              </a:ext>
            </a:extLst>
          </p:cNvPr>
          <p:cNvSpPr txBox="1"/>
          <p:nvPr/>
        </p:nvSpPr>
        <p:spPr>
          <a:xfrm>
            <a:off x="8335616" y="5167830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contracts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1926</a:t>
            </a:r>
          </a:p>
          <a:p>
            <a:pPr algn="ctr"/>
            <a:r>
              <a:rPr lang="de-DE" dirty="0"/>
              <a:t>&amp; </a:t>
            </a:r>
            <a:r>
              <a:rPr lang="de-DE" dirty="0" err="1"/>
              <a:t>handwritten</a:t>
            </a:r>
            <a:endParaRPr lang="de-DE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11327CB7-8B3B-C9E7-654D-219C9F4FE9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490" y="2286234"/>
            <a:ext cx="2617526" cy="2617526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14429CA5-D175-8511-54F2-7B9AC4850F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1825" y="3428999"/>
            <a:ext cx="658411" cy="658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876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0EE9C7-06D3-2546-656A-6CC33CD9B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1515"/>
          </a:xfrm>
        </p:spPr>
        <p:txBody>
          <a:bodyPr>
            <a:normAutofit fontScale="90000"/>
          </a:bodyPr>
          <a:lstStyle/>
          <a:p>
            <a:pPr algn="ctr"/>
            <a:r>
              <a:rPr lang="de-CH" dirty="0"/>
              <a:t>/</a:t>
            </a:r>
            <a:r>
              <a:rPr lang="de-CH" dirty="0" err="1"/>
              <a:t>Our</a:t>
            </a:r>
            <a:r>
              <a:rPr lang="de-CH" dirty="0"/>
              <a:t> Solution/</a:t>
            </a:r>
            <a:br>
              <a:rPr lang="de-CH" dirty="0"/>
            </a:br>
            <a:r>
              <a:rPr lang="de-CH" sz="2700" dirty="0" err="1"/>
              <a:t>Taxonomy</a:t>
            </a:r>
            <a:r>
              <a:rPr lang="de-CH" sz="2700" dirty="0"/>
              <a:t> + LLM Pipeline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65F3974-A75A-A222-B11E-253AED8EBA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720" y="3949368"/>
            <a:ext cx="3564835" cy="356483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38E623D-D117-C85A-AB3B-11E5922A7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659" y="3949367"/>
            <a:ext cx="3564835" cy="356483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27C22C4-4DA4-AC17-3B65-8F5DB3F86F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8598" y="3949366"/>
            <a:ext cx="3564835" cy="356483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DB1050C-9B27-D10A-FAEF-4A82202C03BF}"/>
              </a:ext>
            </a:extLst>
          </p:cNvPr>
          <p:cNvSpPr txBox="1"/>
          <p:nvPr/>
        </p:nvSpPr>
        <p:spPr>
          <a:xfrm>
            <a:off x="981987" y="1918041"/>
            <a:ext cx="283640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u="sng" dirty="0" err="1"/>
              <a:t>Step</a:t>
            </a:r>
            <a:r>
              <a:rPr lang="de-CH" u="sng" dirty="0"/>
              <a:t> 1</a:t>
            </a:r>
            <a:r>
              <a:rPr lang="de-CH" dirty="0"/>
              <a:t> Create </a:t>
            </a:r>
            <a:r>
              <a:rPr lang="de-CH" dirty="0" err="1"/>
              <a:t>Taxonomy</a:t>
            </a:r>
            <a:endParaRPr lang="de-CH" dirty="0"/>
          </a:p>
          <a:p>
            <a:endParaRPr lang="de-CH" dirty="0"/>
          </a:p>
          <a:p>
            <a:r>
              <a:rPr lang="de-CH" dirty="0" err="1"/>
              <a:t>taxonomy.yaml</a:t>
            </a:r>
            <a:endParaRPr lang="de-CH" dirty="0"/>
          </a:p>
          <a:p>
            <a:r>
              <a:rPr lang="de-CH" dirty="0"/>
              <a:t>  → </a:t>
            </a:r>
            <a:r>
              <a:rPr lang="de-CH" dirty="0" err="1"/>
              <a:t>Contract</a:t>
            </a:r>
            <a:r>
              <a:rPr lang="de-CH" dirty="0"/>
              <a:t> </a:t>
            </a:r>
            <a:r>
              <a:rPr lang="de-CH" dirty="0" err="1"/>
              <a:t>types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</a:t>
            </a:r>
            <a:r>
              <a:rPr lang="de-CH" dirty="0" err="1"/>
              <a:t>machine-readable</a:t>
            </a:r>
            <a:r>
              <a:rPr lang="de-CH" dirty="0"/>
              <a:t> </a:t>
            </a:r>
            <a:r>
              <a:rPr lang="de-CH" dirty="0" err="1"/>
              <a:t>schema</a:t>
            </a:r>
            <a:endParaRPr lang="de-CH" dirty="0"/>
          </a:p>
          <a:p>
            <a:r>
              <a:rPr lang="de-CH" dirty="0"/>
              <a:t>  → 3 </a:t>
            </a:r>
            <a:r>
              <a:rPr lang="de-CH" dirty="0" err="1"/>
              <a:t>disjoint</a:t>
            </a:r>
            <a:r>
              <a:rPr lang="de-CH" dirty="0"/>
              <a:t> building-block </a:t>
            </a:r>
            <a:r>
              <a:rPr lang="de-CH" dirty="0" err="1"/>
              <a:t>pools</a:t>
            </a:r>
            <a:endParaRPr lang="de-CH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895815F-C9A8-F035-5288-7B7FF04DB54E}"/>
              </a:ext>
            </a:extLst>
          </p:cNvPr>
          <p:cNvSpPr txBox="1"/>
          <p:nvPr/>
        </p:nvSpPr>
        <p:spPr>
          <a:xfrm>
            <a:off x="4483873" y="1918041"/>
            <a:ext cx="283640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u="sng" dirty="0" err="1"/>
              <a:t>Step</a:t>
            </a:r>
            <a:r>
              <a:rPr lang="de-CH" u="sng" dirty="0"/>
              <a:t> 2</a:t>
            </a:r>
            <a:r>
              <a:rPr lang="de-CH" dirty="0"/>
              <a:t> </a:t>
            </a:r>
            <a:r>
              <a:rPr lang="de-CH" dirty="0" err="1"/>
              <a:t>Extraction</a:t>
            </a:r>
            <a:r>
              <a:rPr lang="de-CH" dirty="0"/>
              <a:t> Pipeline</a:t>
            </a:r>
          </a:p>
          <a:p>
            <a:endParaRPr lang="de-CH" dirty="0"/>
          </a:p>
          <a:p>
            <a:endParaRPr lang="de-CH" dirty="0"/>
          </a:p>
          <a:p>
            <a:r>
              <a:rPr lang="de-CH" dirty="0"/>
              <a:t>  PDF → </a:t>
            </a:r>
            <a:r>
              <a:rPr lang="de-CH" dirty="0" err="1"/>
              <a:t>markitdown</a:t>
            </a:r>
            <a:r>
              <a:rPr lang="de-CH" dirty="0"/>
              <a:t> → LLM + System Prompt → JSON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307A0D1-A506-3AEB-9EA0-4D802F92D291}"/>
              </a:ext>
            </a:extLst>
          </p:cNvPr>
          <p:cNvSpPr txBox="1"/>
          <p:nvPr/>
        </p:nvSpPr>
        <p:spPr>
          <a:xfrm>
            <a:off x="7985759" y="1918041"/>
            <a:ext cx="283640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u="sng" dirty="0" err="1"/>
              <a:t>Step</a:t>
            </a:r>
            <a:r>
              <a:rPr lang="de-CH" u="sng" dirty="0"/>
              <a:t> 3</a:t>
            </a:r>
            <a:r>
              <a:rPr lang="de-CH" dirty="0"/>
              <a:t> Validation</a:t>
            </a:r>
          </a:p>
          <a:p>
            <a:endParaRPr lang="de-CH" dirty="0"/>
          </a:p>
          <a:p>
            <a:r>
              <a:rPr lang="de-CH" dirty="0"/>
              <a:t>  → Quality </a:t>
            </a:r>
            <a:r>
              <a:rPr lang="de-CH" dirty="0" err="1"/>
              <a:t>indicator</a:t>
            </a:r>
            <a:r>
              <a:rPr lang="de-CH" dirty="0"/>
              <a:t> + source </a:t>
            </a:r>
            <a:r>
              <a:rPr lang="de-CH" dirty="0" err="1"/>
              <a:t>reference</a:t>
            </a:r>
            <a:r>
              <a:rPr lang="de-CH" dirty="0"/>
              <a:t> per </a:t>
            </a:r>
            <a:r>
              <a:rPr lang="de-CH" dirty="0" err="1"/>
              <a:t>field</a:t>
            </a:r>
            <a:endParaRPr lang="de-CH" dirty="0"/>
          </a:p>
          <a:p>
            <a:r>
              <a:rPr lang="de-CH" dirty="0"/>
              <a:t>  → Only </a:t>
            </a:r>
            <a:r>
              <a:rPr lang="de-CH" dirty="0" err="1"/>
              <a:t>allowed</a:t>
            </a:r>
            <a:r>
              <a:rPr lang="de-CH" dirty="0"/>
              <a:t> </a:t>
            </a:r>
            <a:r>
              <a:rPr lang="de-CH" dirty="0" err="1"/>
              <a:t>taxonomy</a:t>
            </a:r>
            <a:r>
              <a:rPr lang="de-CH" dirty="0"/>
              <a:t> </a:t>
            </a:r>
            <a:r>
              <a:rPr lang="de-CH" dirty="0" err="1"/>
              <a:t>combinations</a:t>
            </a:r>
            <a:r>
              <a:rPr lang="de-CH" dirty="0"/>
              <a:t> pass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FB1307D-9700-4E94-F1A3-3488418818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910" y="3949366"/>
            <a:ext cx="1298050" cy="12980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CB81319B-6CD2-56AE-1F3F-0FA25238DA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464" y="4108226"/>
            <a:ext cx="1139190" cy="113919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AE79831-E45A-8A77-295B-DBFBEDAC98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4024" y="4028451"/>
            <a:ext cx="1139879" cy="1139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521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Our Solution: Taxonomy + LLM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Step 1: </a:t>
            </a:r>
            <a:r>
              <a:rPr dirty="0" err="1"/>
              <a:t>taxonomy.yaml</a:t>
            </a:r>
            <a:endParaRPr dirty="0"/>
          </a:p>
          <a:p>
            <a:r>
              <a:rPr dirty="0"/>
              <a:t>  → Contract types as machine-readable schema</a:t>
            </a:r>
          </a:p>
          <a:p>
            <a:r>
              <a:rPr dirty="0"/>
              <a:t>  → 3 disjoint building-block pools</a:t>
            </a:r>
          </a:p>
          <a:p>
            <a:endParaRPr dirty="0"/>
          </a:p>
          <a:p>
            <a:r>
              <a:rPr dirty="0"/>
              <a:t>Step 2: Extraction Pipeline</a:t>
            </a:r>
          </a:p>
          <a:p>
            <a:r>
              <a:rPr dirty="0"/>
              <a:t>  PDF → </a:t>
            </a:r>
            <a:r>
              <a:rPr dirty="0" err="1"/>
              <a:t>markitdown</a:t>
            </a:r>
            <a:r>
              <a:rPr dirty="0"/>
              <a:t> → LLM + System Prompt → JSON</a:t>
            </a:r>
          </a:p>
          <a:p>
            <a:endParaRPr dirty="0"/>
          </a:p>
          <a:p>
            <a:r>
              <a:rPr dirty="0"/>
              <a:t>Step 3: Validation</a:t>
            </a:r>
          </a:p>
          <a:p>
            <a:r>
              <a:rPr dirty="0"/>
              <a:t>  → Quality indicator + source reference per field</a:t>
            </a:r>
          </a:p>
          <a:p>
            <a:r>
              <a:rPr dirty="0"/>
              <a:t>  → Only allowed taxonomy combinations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Results: AI vs. Human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dirty="0"/>
              <a:t>Test: Contract 90051045 (ASTRA/SBB Bridge </a:t>
            </a:r>
            <a:r>
              <a:rPr dirty="0" err="1"/>
              <a:t>Balsberg</a:t>
            </a:r>
            <a:r>
              <a:rPr dirty="0"/>
              <a:t>)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✅ 7/10 fields match with </a:t>
            </a:r>
            <a:r>
              <a:rPr dirty="0" err="1"/>
              <a:t>Masterdatei</a:t>
            </a:r>
            <a:endParaRPr dirty="0"/>
          </a:p>
          <a:p>
            <a:pPr marL="0" indent="0">
              <a:buNone/>
            </a:pPr>
            <a:r>
              <a:rPr dirty="0"/>
              <a:t>✅ Cost split correctly extracted (CHF 15.8M, 45%/55%)</a:t>
            </a:r>
          </a:p>
          <a:p>
            <a:pPr marL="0" indent="0">
              <a:buNone/>
            </a:pPr>
            <a:r>
              <a:rPr dirty="0"/>
              <a:t>✅ Predecessor contract identified (from 1968)</a:t>
            </a:r>
          </a:p>
          <a:p>
            <a:pPr marL="0" indent="0">
              <a:buNone/>
            </a:pPr>
            <a:endParaRPr dirty="0"/>
          </a:p>
          <a:p>
            <a:pPr marL="0" indent="0" algn="ctr">
              <a:buNone/>
            </a:pPr>
            <a:r>
              <a:rPr dirty="0"/>
              <a:t> 1 field: AI is </a:t>
            </a:r>
            <a:r>
              <a:rPr dirty="0">
                <a:solidFill>
                  <a:srgbClr val="FF0000"/>
                </a:solidFill>
              </a:rPr>
              <a:t>MORE CORRECT </a:t>
            </a:r>
            <a:r>
              <a:rPr dirty="0"/>
              <a:t>than human data!</a:t>
            </a:r>
            <a:br>
              <a:rPr lang="de-CH" dirty="0"/>
            </a:br>
            <a:endParaRPr lang="de-CH" dirty="0"/>
          </a:p>
          <a:p>
            <a:pPr marL="0" indent="0" algn="ctr">
              <a:buNone/>
            </a:pPr>
            <a:r>
              <a:rPr lang="de-CH" sz="2400" dirty="0"/>
              <a:t>❌ </a:t>
            </a:r>
            <a:r>
              <a:rPr dirty="0" err="1"/>
              <a:t>Masterdatei</a:t>
            </a:r>
            <a:r>
              <a:rPr dirty="0"/>
              <a:t>: "</a:t>
            </a:r>
            <a:r>
              <a:rPr dirty="0" err="1"/>
              <a:t>Bahnübergang</a:t>
            </a:r>
            <a:r>
              <a:rPr dirty="0"/>
              <a:t>"</a:t>
            </a:r>
            <a:r>
              <a:rPr lang="de-CH" dirty="0"/>
              <a:t> &lt;-&gt; </a:t>
            </a:r>
            <a:r>
              <a:rPr dirty="0"/>
              <a:t>Contract says: "</a:t>
            </a:r>
            <a:r>
              <a:rPr dirty="0" err="1"/>
              <a:t>Bahnbrücke</a:t>
            </a:r>
            <a:r>
              <a:rPr dirty="0"/>
              <a:t>"</a:t>
            </a:r>
            <a:r>
              <a:rPr lang="de-CH" dirty="0"/>
              <a:t> ✅ </a:t>
            </a:r>
            <a:endParaRPr dirty="0"/>
          </a:p>
          <a:p>
            <a:pPr marL="0" indent="0" algn="ctr">
              <a:buNone/>
            </a:pPr>
            <a:endParaRPr dirty="0"/>
          </a:p>
          <a:p>
            <a:pPr marL="0" indent="0" algn="ctr">
              <a:buNone/>
            </a:pPr>
            <a:r>
              <a:rPr dirty="0">
                <a:solidFill>
                  <a:srgbClr val="FF0000"/>
                </a:solidFill>
              </a:rPr>
              <a:t>→ The AI found an error humans missed.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Contract Taxonomy (4 Levels)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t>Ebene 1: Infrastrukturverträge</a:t>
            </a:r>
          </a:p>
          <a:p>
            <a:r>
              <a:t>├─ Ebene 2: Zusammenarbeit bei Anlagen</a:t>
            </a:r>
          </a:p>
          <a:p>
            <a:r>
              <a:t>│  └─ Ebene 3: Phases (V1–V4)</a:t>
            </a:r>
          </a:p>
          <a:p>
            <a:r>
              <a:t>│     └─ Ebene 4: Pool A (9 building blocks)</a:t>
            </a:r>
          </a:p>
          <a:p>
            <a:r>
              <a:t>└─ Ebene 2: Grundstücknutzung</a:t>
            </a:r>
          </a:p>
          <a:p>
            <a:r>
              <a:t>   ├─ Ebene 3: Nutzungsverträge → Pool B (4)</a:t>
            </a:r>
          </a:p>
          <a:p>
            <a:r>
              <a:t>   └─ Ebene 3: Bauten Dritter → Pool C (2)</a:t>
            </a:r>
          </a:p>
          <a:p>
            <a:endParaRPr/>
          </a:p>
          <a:p>
            <a:r>
              <a:t>3 disjoint pools – validated combinations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Roadmap: Manual → Automated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dirty="0"/>
              <a:t>TODAY (Hackathon)</a:t>
            </a:r>
          </a:p>
          <a:p>
            <a:r>
              <a:rPr dirty="0"/>
              <a:t>  </a:t>
            </a:r>
            <a:r>
              <a:rPr lang="de-CH" dirty="0"/>
              <a:t>2</a:t>
            </a:r>
            <a:r>
              <a:rPr dirty="0"/>
              <a:t> contract, manual QA, 2 LLMs</a:t>
            </a:r>
          </a:p>
          <a:p>
            <a:endParaRPr dirty="0"/>
          </a:p>
          <a:p>
            <a:r>
              <a:rPr dirty="0"/>
              <a:t>NEXT (3–6 months)</a:t>
            </a:r>
          </a:p>
          <a:p>
            <a:r>
              <a:rPr dirty="0"/>
              <a:t>  Batch </a:t>
            </a:r>
            <a:r>
              <a:rPr lang="de-CH" dirty="0"/>
              <a:t>10</a:t>
            </a:r>
            <a:r>
              <a:rPr dirty="0"/>
              <a:t>,000 contracts, Human-in-the-Loop, SAP Prefill</a:t>
            </a:r>
          </a:p>
          <a:p>
            <a:endParaRPr dirty="0"/>
          </a:p>
          <a:p>
            <a:r>
              <a:rPr dirty="0"/>
              <a:t>FUTURE</a:t>
            </a:r>
          </a:p>
          <a:p>
            <a:r>
              <a:rPr dirty="0"/>
              <a:t>  Asset linking (contract → physical structure via UUID)</a:t>
            </a:r>
          </a:p>
          <a:p>
            <a:r>
              <a:rPr dirty="0"/>
              <a:t>  Contract relationship graph</a:t>
            </a:r>
          </a:p>
          <a:p>
            <a:r>
              <a:rPr dirty="0"/>
              <a:t>  Cross-railway: DB / ÖBB / SBB</a:t>
            </a:r>
          </a:p>
          <a:p>
            <a:r>
              <a:rPr dirty="0"/>
              <a:t>  Compliance check vs. OSCAL4Rail (Challenge 1)</a:t>
            </a:r>
          </a:p>
          <a:p>
            <a:endParaRPr dirty="0"/>
          </a:p>
          <a:p>
            <a:r>
              <a:rPr dirty="0"/>
              <a:t>⚡ The AI proposes, the human decides.</a:t>
            </a:r>
          </a:p>
          <a:p>
            <a:r>
              <a:rPr dirty="0"/>
              <a:t>   Uncertain fields always go to human verification.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Multi-LLM 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Same prompt, same input – two models:</a:t>
            </a:r>
          </a:p>
          <a:p>
            <a:endParaRPr/>
          </a:p>
          <a:p>
            <a:r>
              <a:t>• Claude Sonnet 4 (Anthropic) → ✅ validated</a:t>
            </a:r>
          </a:p>
          <a:p>
            <a:r>
              <a:t>• Cortex (SBB internal) → results pending</a:t>
            </a:r>
          </a:p>
          <a:p>
            <a:endParaRPr/>
          </a:p>
          <a:p>
            <a:r>
              <a:t>→ Cross-model validation increases confidence</a:t>
            </a:r>
          </a:p>
          <a:p>
            <a:r>
              <a:t>→ Quality indicators: eindeutig / abgeleitet / fehlend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 are the ConTextractors.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t>Contract + Text + Extractors</a:t>
            </a:r>
          </a:p>
          <a:p>
            <a:endParaRPr/>
          </a:p>
          <a:p>
            <a:r>
              <a:t>From Aktenordner to structured, validated data.</a:t>
            </a:r>
          </a:p>
          <a:p>
            <a:r>
              <a:t>With source references. In seconds, not days.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6_H4R_PPTMaster" id="{A8D19306-7F92-3741-8E9B-1996A972416B}" vid="{4B0AC7A3-DE22-B748-A902-9C1F40428DB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5895299445B8C4DB378BBB718B1F939" ma:contentTypeVersion="18" ma:contentTypeDescription="Ein neues Dokument erstellen." ma:contentTypeScope="" ma:versionID="ca18c32604eb9eb075bdd5b520f76d7f">
  <xsd:schema xmlns:xsd="http://www.w3.org/2001/XMLSchema" xmlns:xs="http://www.w3.org/2001/XMLSchema" xmlns:p="http://schemas.microsoft.com/office/2006/metadata/properties" xmlns:ns2="b106c448-c3d1-41cc-8fd9-3acb307364b4" xmlns:ns3="b043894e-b4c8-44d0-9690-d7947297ac19" targetNamespace="http://schemas.microsoft.com/office/2006/metadata/properties" ma:root="true" ma:fieldsID="0e0a0918b2fa3636e306fde1bc5c258b" ns2:_="" ns3:_="">
    <xsd:import namespace="b106c448-c3d1-41cc-8fd9-3acb307364b4"/>
    <xsd:import namespace="b043894e-b4c8-44d0-9690-d7947297ac19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  <xsd:element ref="ns2:Copyright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06c448-c3d1-41cc-8fd9-3acb307364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f80f6d38-43b1-4def-ac06-3ce7426a3aa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Copyright" ma:index="23" nillable="true" ma:displayName="Copyright" ma:description="Quellenangabe" ma:format="Dropdown" ma:internalName="Copyright">
      <xsd:simpleType>
        <xsd:restriction base="dms:Text">
          <xsd:maxLength value="255"/>
        </xsd:restriction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43894e-b4c8-44d0-9690-d7947297ac1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hidden="true" ma:internalName="SharedWithDetails" ma:readOnly="true">
      <xsd:simpleType>
        <xsd:restriction base="dms:Note"/>
      </xsd:simpleType>
    </xsd:element>
    <xsd:element name="TaxCatchAll" ma:index="14" nillable="true" ma:displayName="Taxonomy Catch All Column" ma:hidden="true" ma:list="{d38ad991-424d-4a22-91ec-88ad21543f30}" ma:internalName="TaxCatchAll" ma:readOnly="false" ma:showField="CatchAllData" ma:web="b043894e-b4c8-44d0-9690-d7947297ac1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pyright xmlns="b106c448-c3d1-41cc-8fd9-3acb307364b4" xsi:nil="true"/>
    <lcf76f155ced4ddcb4097134ff3c332f xmlns="b106c448-c3d1-41cc-8fd9-3acb307364b4">
      <Terms xmlns="http://schemas.microsoft.com/office/infopath/2007/PartnerControls"/>
    </lcf76f155ced4ddcb4097134ff3c332f>
    <TaxCatchAll xmlns="b043894e-b4c8-44d0-9690-d7947297ac1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BED3A9D-D1E4-45EA-8B49-CB6F60C2A9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06c448-c3d1-41cc-8fd9-3acb307364b4"/>
    <ds:schemaRef ds:uri="b043894e-b4c8-44d0-9690-d7947297ac1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6D2420F-AFAE-4394-AC5D-D74FCC39CD53}">
  <ds:schemaRefs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b043894e-b4c8-44d0-9690-d7947297ac19"/>
    <ds:schemaRef ds:uri="http://schemas.microsoft.com/office/2006/documentManagement/types"/>
    <ds:schemaRef ds:uri="b106c448-c3d1-41cc-8fd9-3acb307364b4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47CF5FD6-43E2-4C9A-9372-C9D60EE1772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cda0c22-3e77-43b9-8faf-0bad2baf7893}" enabled="1" method="Standard" siteId="{085c0b65-6a84-4006-851e-5faa7ec5367e}" contentBits="2" removed="0"/>
  <clbl:label id="{3dac9f92-1d4e-4aae-b975-a9900684008d}" enabled="1" method="Standard" siteId="{a1a72d9c-49e6-4f6d-9af6-5aafa1183bf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575</Words>
  <Application>Microsoft Macintosh PowerPoint</Application>
  <PresentationFormat>Widescreen</PresentationFormat>
  <Paragraphs>98</Paragraphs>
  <Slides>11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</vt:lpstr>
      <vt:lpstr>ConTextractors</vt:lpstr>
      <vt:lpstr>The Problem</vt:lpstr>
      <vt:lpstr>Today: Manual Extraction</vt:lpstr>
      <vt:lpstr>/The Problem/</vt:lpstr>
      <vt:lpstr>/Our Solution/ Taxonomy + LLM Pipeline</vt:lpstr>
      <vt:lpstr>Our Solution: Taxonomy + LLM Pipeline</vt:lpstr>
      <vt:lpstr>Results: AI vs. Human</vt:lpstr>
      <vt:lpstr>Contract Taxonomy (4 Levels)</vt:lpstr>
      <vt:lpstr>Roadmap: Manual → Automated</vt:lpstr>
      <vt:lpstr>Multi-LLM Verification</vt:lpstr>
      <vt:lpstr>We are the ConTextractors.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Jens Grote</dc:creator>
  <cp:lastModifiedBy>Jens Grote</cp:lastModifiedBy>
  <cp:revision>6</cp:revision>
  <dcterms:created xsi:type="dcterms:W3CDTF">2026-06-23T13:11:35Z</dcterms:created>
  <dcterms:modified xsi:type="dcterms:W3CDTF">2026-06-23T15:35:35Z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ac9f92-1d4e-4aae-b975-a9900684008d_Enabled">
    <vt:lpwstr>true</vt:lpwstr>
  </property>
  <property fmtid="{D5CDD505-2E9C-101B-9397-08002B2CF9AE}" pid="3" name="MSIP_Label_3dac9f92-1d4e-4aae-b975-a9900684008d_SetDate">
    <vt:lpwstr>2025-06-16T07:21:58Z</vt:lpwstr>
  </property>
  <property fmtid="{D5CDD505-2E9C-101B-9397-08002B2CF9AE}" pid="4" name="MSIP_Label_3dac9f92-1d4e-4aae-b975-a9900684008d_Method">
    <vt:lpwstr>Standard</vt:lpwstr>
  </property>
  <property fmtid="{D5CDD505-2E9C-101B-9397-08002B2CF9AE}" pid="5" name="MSIP_Label_3dac9f92-1d4e-4aae-b975-a9900684008d_Name">
    <vt:lpwstr>DB Intern</vt:lpwstr>
  </property>
  <property fmtid="{D5CDD505-2E9C-101B-9397-08002B2CF9AE}" pid="6" name="MSIP_Label_3dac9f92-1d4e-4aae-b975-a9900684008d_SiteId">
    <vt:lpwstr>a1a72d9c-49e6-4f6d-9af6-5aafa1183bfd</vt:lpwstr>
  </property>
  <property fmtid="{D5CDD505-2E9C-101B-9397-08002B2CF9AE}" pid="7" name="MSIP_Label_3dac9f92-1d4e-4aae-b975-a9900684008d_ActionId">
    <vt:lpwstr>bb24dd71-d472-4ddc-9b15-9c5081759944</vt:lpwstr>
  </property>
  <property fmtid="{D5CDD505-2E9C-101B-9397-08002B2CF9AE}" pid="8" name="MSIP_Label_3dac9f92-1d4e-4aae-b975-a9900684008d_ContentBits">
    <vt:lpwstr>1</vt:lpwstr>
  </property>
  <property fmtid="{D5CDD505-2E9C-101B-9397-08002B2CF9AE}" pid="9" name="ClassificationContentMarkingHeaderLocations">
    <vt:lpwstr>Office:9</vt:lpwstr>
  </property>
  <property fmtid="{D5CDD505-2E9C-101B-9397-08002B2CF9AE}" pid="10" name="ClassificationContentMarkingHeaderText">
    <vt:lpwstr>          DB Intern / DB internal</vt:lpwstr>
  </property>
  <property fmtid="{D5CDD505-2E9C-101B-9397-08002B2CF9AE}" pid="11" name="ContentTypeId">
    <vt:lpwstr>0x010100C5895299445B8C4DB378BBB718B1F939</vt:lpwstr>
  </property>
  <property fmtid="{D5CDD505-2E9C-101B-9397-08002B2CF9AE}" pid="12" name="ClassificationContentMarkingFooterLocations">
    <vt:lpwstr>Office:9</vt:lpwstr>
  </property>
  <property fmtid="{D5CDD505-2E9C-101B-9397-08002B2CF9AE}" pid="13" name="ClassificationContentMarkingFooterText">
    <vt:lpwstr>TLP gelb (Adressatenkreis)</vt:lpwstr>
  </property>
</Properties>
</file>