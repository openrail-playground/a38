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6"/>
    <p:sldId id="257" r:id="rId5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736973-93B8-43AB-B5D5-AFCF1EC167BE}" v="2" dt="2025-06-16T07:24:32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258550-D773-9960-BD4F-07D9A5241D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84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FFC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TLP gelb (Adressatenkreis)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7A67288-9912-7A2D-2A95-545A3C2A5D7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510415" y="362952"/>
            <a:ext cx="543254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ConTextractors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 Contract Analysis</a:t>
            </a:r>
          </a:p>
          <a:p>
            <a:r>
              <a:t>Hack4Rail 2026 – Team A38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5,000+ infrastructure contracts (PDF, scans, handwritten)</a:t>
            </a:r>
          </a:p>
          <a:p>
            <a:r>
              <a:t>Manual classification into SAP/ContrAct</a:t>
            </a:r>
          </a:p>
          <a:p>
            <a:r>
              <a:t>4-level taxonomy × 3 languages (DE/FR/IT)</a:t>
            </a:r>
          </a:p>
          <a:p>
            <a:r>
              <a:t>13 fields per contract + cost sharing + dependencies</a:t>
            </a:r>
          </a:p>
          <a:p>
            <a:r>
              <a:t>Error-prone: humans make mistakes under volume</a:t>
            </a:r>
          </a:p>
          <a:p/>
          <a:p>
            <a:r>
              <a:t>→ "Here are 5 contracts. Sort them by this schema."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Today: Manual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Humans read PDFs and fill a spreadsheet (33 columns)</a:t>
            </a:r>
          </a:p>
          <a:p>
            <a:r>
              <a:t>Masterdatei H4R.xlsx – manually maintained</a:t>
            </a:r>
          </a:p>
          <a:p>
            <a:r>
              <a:t>Slow, expensive, error-prone</a:t>
            </a:r>
          </a:p>
          <a:p>
            <a:r>
              <a:t>Some contracts from 1926 – handwritten fields</a:t>
            </a:r>
          </a:p>
          <a:p/>
          <a:p>
            <a:r>
              <a:t>🕐 5,000 contracts × 30 min = 2,500 hours = 1.5 FTE/year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Taxonomy + LLM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taxonomy.yaml</a:t>
            </a:r>
          </a:p>
          <a:p>
            <a:r>
              <a:t>  → Contract types as machine-readable schema</a:t>
            </a:r>
          </a:p>
          <a:p>
            <a:r>
              <a:t>  → 3 disjoint building-block pools</a:t>
            </a:r>
          </a:p>
          <a:p/>
          <a:p>
            <a:r>
              <a:t>Step 2: Extraction Pipeline</a:t>
            </a:r>
          </a:p>
          <a:p>
            <a:r>
              <a:t>  PDF → markitdown → LLM + System Prompt → JSON</a:t>
            </a:r>
          </a:p>
          <a:p/>
          <a:p>
            <a:r>
              <a:t>Step 3: Validation</a:t>
            </a:r>
          </a:p>
          <a:p>
            <a:r>
              <a:t>  → Quality indicator + source reference per field</a:t>
            </a:r>
          </a:p>
          <a:p>
            <a:r>
              <a:t>  → Only allowed taxonomy combinations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Taxonomy (4 Levels)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Ebene 1: Infrastrukturverträge</a:t>
            </a:r>
          </a:p>
          <a:p>
            <a:r>
              <a:t>├─ Ebene 2: Zusammenarbeit bei Anlagen</a:t>
            </a:r>
          </a:p>
          <a:p>
            <a:r>
              <a:t>│  └─ Ebene 3: Phases (V1–V4)</a:t>
            </a:r>
          </a:p>
          <a:p>
            <a:r>
              <a:t>│     └─ Ebene 4: Pool A (9 building blocks)</a:t>
            </a:r>
          </a:p>
          <a:p>
            <a:r>
              <a:t>└─ Ebene 2: Grundstücknutzung</a:t>
            </a:r>
          </a:p>
          <a:p>
            <a:r>
              <a:t>   ├─ Ebene 3: Nutzungsverträge → Pool B (4)</a:t>
            </a:r>
          </a:p>
          <a:p>
            <a:r>
              <a:t>   └─ Ebene 3: Bauten Dritter → Pool C (2)</a:t>
            </a:r>
          </a:p>
          <a:p/>
          <a:p>
            <a:r>
              <a:t>3 disjoint pools – validated combinations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AI vs.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Test: Contract 90051045 (ASTRA/SBB Bridge Balsberg)</a:t>
            </a:r>
          </a:p>
          <a:p/>
          <a:p>
            <a:r>
              <a:t>✅ 7/10 fields match with Masterdatei</a:t>
            </a:r>
          </a:p>
          <a:p>
            <a:r>
              <a:t>✅ Cost split correctly extracted (CHF 15.8M, 45%/55%)</a:t>
            </a:r>
          </a:p>
          <a:p>
            <a:r>
              <a:t>✅ Predecessor contract identified (from 1968)</a:t>
            </a:r>
          </a:p>
          <a:p/>
          <a:p>
            <a:r>
              <a:t>❌ 1 field: AI is MORE CORRECT than human data!</a:t>
            </a:r>
          </a:p>
          <a:p>
            <a:r>
              <a:t>   Masterdatei: "Bahnübergang" (wrong)</a:t>
            </a:r>
          </a:p>
          <a:p>
            <a:r>
              <a:t>   Contract says: "Bahnbrücke" (correct)</a:t>
            </a:r>
          </a:p>
          <a:p/>
          <a:p>
            <a:r>
              <a:t>→ The AI found an error humans missed.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Multi-LLM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prompt, same input – two models:</a:t>
            </a:r>
          </a:p>
          <a:p/>
          <a:p>
            <a:r>
              <a:t>• Claude Sonnet 4 (Anthropic) → ✅ validated</a:t>
            </a:r>
          </a:p>
          <a:p>
            <a:r>
              <a:t>• Cortex (SBB internal) → results pending</a:t>
            </a:r>
          </a:p>
          <a:p/>
          <a:p>
            <a:r>
              <a:t>→ Cross-model validation increases confidence</a:t>
            </a:r>
          </a:p>
          <a:p>
            <a:r>
              <a:t>→ Quality indicators: eindeutig / abgeleitet / fehlend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Roadmap: Manual →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 (Hackathon)</a:t>
            </a:r>
          </a:p>
          <a:p>
            <a:r>
              <a:t>  1 contract, manual QA, 2 LLMs</a:t>
            </a:r>
          </a:p>
          <a:p/>
          <a:p>
            <a:r>
              <a:t>NEXT (3–6 months)</a:t>
            </a:r>
          </a:p>
          <a:p>
            <a:r>
              <a:t>  Batch 5,000 contracts, Human-in-the-Loop, SAP Prefill</a:t>
            </a:r>
          </a:p>
          <a:p/>
          <a:p>
            <a:r>
              <a:t>FUTURE</a:t>
            </a:r>
          </a:p>
          <a:p>
            <a:r>
              <a:t>  Asset linking (contract → physical structure via UUID)</a:t>
            </a:r>
          </a:p>
          <a:p>
            <a:r>
              <a:t>  Contract relationship graph</a:t>
            </a:r>
          </a:p>
          <a:p>
            <a:r>
              <a:t>  Cross-railway: DB / ÖBB / SBB</a:t>
            </a:r>
          </a:p>
          <a:p>
            <a:r>
              <a:t>  Compliance check vs. OSCAL4Rail (Challenge 1)</a:t>
            </a:r>
          </a:p>
          <a:p/>
          <a:p>
            <a:r>
              <a:t>⚡ The AI proposes, the human decides.</a:t>
            </a:r>
          </a:p>
          <a:p>
            <a:r>
              <a:t>   Uncertain fields always go to human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 are the ConTextractors.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Contract + Text + Extractors</a:t>
            </a:r>
          </a:p>
          <a:p/>
          <a:p>
            <a:r>
              <a:t>From Aktenordner to structured, validated data.</a:t>
            </a:r>
          </a:p>
          <a:p>
            <a:r>
              <a:t>With source references. In seconds, not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_H4R_PPTMaster" id="{A8D19306-7F92-3741-8E9B-1996A972416B}" vid="{4B0AC7A3-DE22-B748-A902-9C1F40428DBF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8" ma:contentTypeDescription="Ein neues Dokument erstellen." ma:contentTypeScope="" ma:versionID="ca18c32604eb9eb075bdd5b520f76d7f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0e0a0918b2fa3636e306fde1bc5c258b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D2420F-AFAE-4394-AC5D-D74FCC39CD53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043894e-b4c8-44d0-9690-d7947297ac19"/>
    <ds:schemaRef ds:uri="http://schemas.microsoft.com/office/2006/documentManagement/types"/>
    <ds:schemaRef ds:uri="b106c448-c3d1-41cc-8fd9-3acb307364b4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BED3A9D-D1E4-45EA-8B49-CB6F60C2A9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CF5FD6-43E2-4C9A-9372-C9D60EE1772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  <clbl:label id="{3dac9f92-1d4e-4aae-b975-a9900684008d}" enabled="1" method="Standard" siteId="{a1a72d9c-49e6-4f6d-9af6-5aafa1183bf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Grote</dc:creator>
  <cp:lastModifiedBy>Jens Grote</cp:lastModifiedBy>
  <cp:revision>1</cp:revision>
  <dcterms:created xsi:type="dcterms:W3CDTF">2026-06-23T13:11:35Z</dcterms:created>
  <dcterms:modified xsi:type="dcterms:W3CDTF">2026-06-23T13:14:21Z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Office:9</vt:lpwstr>
  </property>
  <property fmtid="{D5CDD505-2E9C-101B-9397-08002B2CF9AE}" pid="13" name="ClassificationContentMarkingFooterText">
    <vt:lpwstr>TLP gelb (Adressatenkreis)</vt:lpwstr>
  </property>
</Properties>
</file>