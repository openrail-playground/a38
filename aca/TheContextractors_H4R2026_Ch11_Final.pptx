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67" r:id="rId6"/>
    <p:sldId id="266" r:id="rId7"/>
    <p:sldId id="265" r:id="rId8"/>
    <p:sldId id="261" r:id="rId9"/>
    <p:sldId id="263" r:id="rId10"/>
    <p:sldId id="264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7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4008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EF9F32-408F-CC4D-86AD-D2A508A08F66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FD06D0-28F0-B64A-938A-90B5DC609D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2688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0F720-8D32-6BAD-8FC7-55C3EC778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C8C2146-660A-AE7C-0329-D018D311B3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5171BE-FD78-76A8-6B80-48367763E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B6DB5D-D71E-108F-466B-F91D2C80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C3ADE4-6B4C-F03A-045E-F6F055DAA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0440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4DD735-BDD1-94F6-947C-3B25372A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9D8038-CC07-BF42-C180-8213F6092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B5BDC6-CB74-9C08-B136-A4BC672E4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169B60-6007-2DBA-498D-F9DD35632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B44393-FFCD-986E-BD72-B043CB54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5233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F18F37-2345-A019-5A40-FCFC1B65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864E25-78F6-D8C8-4927-DE8FD5D08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A7F423-0307-C9C0-64D9-B44A22DAB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067E8B-CE77-7EB1-A96D-E6233E35B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B2ECE-5BD1-3A50-8A0C-C7377678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053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CEEA1-3EDA-9C07-C68A-B91F45D1E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FB1FBE-ACB9-17CF-35FE-F544523B8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1BE1FF5-D165-C3D9-D009-54088DA2C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DBB3C3-4B11-A8D5-FFC8-5D5EA1F77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EC073DF-35D5-F739-65B9-A57A2F2F1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04A1FD-63C3-0251-81C3-FE9BEA5E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5209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990512-17C2-7AF1-E6AB-0FCF669B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C6E44D-923F-EED5-A232-69A34590D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A6F1B74-D075-1C08-1133-1FF3F0EAA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E7FD04D-9D7B-F3EC-5939-F6F1B8020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BB85E1D-824B-FBD1-48C6-4AEA38582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C4EE23-62B7-2ADF-BDD6-16EBA027B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AD14211-2778-80B5-09A7-D692AF677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CE239C4-616C-C451-0F5D-E6E42A7C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758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823389-CF91-D54F-1BF0-E835245EE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E46169B-829B-590E-E9AC-4F7E08D94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033D54-559D-C62E-4A4B-ACC5B365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CABE68-C7F2-6F9B-E453-D3661FFB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233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20E3135-8B3B-54AC-85DC-D91FD0DC5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D6C95FA-FD79-8400-617F-FA55B36B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B5510F-2C87-7BD6-9F43-0531D639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756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183582-0F38-B1B0-EF23-B1DE29E8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D2929C-C896-607D-BFD1-1B99E8B18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3CF0998-1E97-ACA5-EA0D-B4EE0654B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AD9FEF5-1005-2970-CE12-A0C0CDB3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679C54-569B-0D21-0EFB-237FC789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B40808-4539-2A37-5A17-CC1F436D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6376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B77623-19B5-91DE-F760-E886DBEAE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67D6CE4-044E-8380-AB10-2590AEC8C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CB0F65-BCCD-F72F-1905-1095C7DF6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84837F0-EE1A-7981-C710-9A818DA87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226F3F-B5B3-2C74-F02D-3E401C00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5C8464-AB5F-231E-0165-6640E224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06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19370-FC31-BA4E-6845-33A053DB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DAC76CE-BA41-D293-E213-79C6E60A9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50960E-8F1C-2BB9-FAF0-81A292C5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F09603-E9D8-19AA-E598-29E1050D8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0CC994-479E-32BA-1C9D-DEA19D5B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2968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1C970BE-25B3-EFF7-7DE9-41209FEC58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581558-0B33-6026-F9EA-CD06BF61A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B87AC9-5C5C-35B5-4B5C-AB6B36800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20FAC1-04C2-DBED-815F-F2F20C39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8C25C6-03BF-BA3C-18D7-63B20956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2941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D4C124E-7B17-B2FD-9D2F-DDB0A07A7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4BF6DF-E280-5E3C-E0DE-8013715D4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BA836C-2514-E8BA-CA51-983C4515C4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2B1274-0C59-E38E-FEC9-32A44E98E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DCA194-377F-8AA7-C447-59152C00A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7A67288-9912-7A2D-2A95-545A3C2A5D7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510415" y="362952"/>
            <a:ext cx="543254" cy="7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61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ConTextractors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11 </a:t>
            </a:r>
            <a:r>
              <a:rPr dirty="0"/>
              <a:t>Automatic Contract Analysis</a:t>
            </a:r>
          </a:p>
          <a:p>
            <a:r>
              <a:rPr dirty="0"/>
              <a:t>Hack4Rail 2026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BAE8991-83C3-8207-9BAE-D4E5B6170484}"/>
              </a:ext>
            </a:extLst>
          </p:cNvPr>
          <p:cNvSpPr txBox="1"/>
          <p:nvPr/>
        </p:nvSpPr>
        <p:spPr>
          <a:xfrm>
            <a:off x="0" y="160020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Contract</a:t>
            </a:r>
            <a:r>
              <a:rPr lang="de-CH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+ Text + </a:t>
            </a:r>
            <a:r>
              <a:rPr lang="de-CH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Extractors</a:t>
            </a:r>
            <a:endParaRPr lang="de-CH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Gekrümmte Verbindung 6">
            <a:extLst>
              <a:ext uri="{FF2B5EF4-FFF2-40B4-BE49-F238E27FC236}">
                <a16:creationId xmlns:a16="http://schemas.microsoft.com/office/drawing/2014/main" id="{269CF8F5-6AAD-8796-851B-DD6ADA0B1E1D}"/>
              </a:ext>
            </a:extLst>
          </p:cNvPr>
          <p:cNvCxnSpPr/>
          <p:nvPr/>
        </p:nvCxnSpPr>
        <p:spPr>
          <a:xfrm rot="5400000">
            <a:off x="4413766" y="2004198"/>
            <a:ext cx="786025" cy="716692"/>
          </a:xfrm>
          <a:prstGeom prst="curvedConnector3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krümmte Verbindung 8">
            <a:extLst>
              <a:ext uri="{FF2B5EF4-FFF2-40B4-BE49-F238E27FC236}">
                <a16:creationId xmlns:a16="http://schemas.microsoft.com/office/drawing/2014/main" id="{4817A8F3-41D8-DD3B-6A34-8D04665FC3EF}"/>
              </a:ext>
            </a:extLst>
          </p:cNvPr>
          <p:cNvCxnSpPr>
            <a:stCxn id="5" idx="2"/>
          </p:cNvCxnSpPr>
          <p:nvPr/>
        </p:nvCxnSpPr>
        <p:spPr>
          <a:xfrm rot="5400000">
            <a:off x="5614431" y="2273987"/>
            <a:ext cx="786025" cy="177114"/>
          </a:xfrm>
          <a:prstGeom prst="curvedConnector3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krümmte Verbindung 10">
            <a:extLst>
              <a:ext uri="{FF2B5EF4-FFF2-40B4-BE49-F238E27FC236}">
                <a16:creationId xmlns:a16="http://schemas.microsoft.com/office/drawing/2014/main" id="{2A5F484A-2833-F307-3B64-DDF4DE016CEE}"/>
              </a:ext>
            </a:extLst>
          </p:cNvPr>
          <p:cNvCxnSpPr/>
          <p:nvPr/>
        </p:nvCxnSpPr>
        <p:spPr>
          <a:xfrm rot="16200000" flipH="1">
            <a:off x="6743014" y="2072160"/>
            <a:ext cx="786026" cy="580768"/>
          </a:xfrm>
          <a:prstGeom prst="curvedConnector3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738689D-E6E0-AA7D-45A9-C4259C61FE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275248"/>
            <a:ext cx="10905066" cy="430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837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6AF53-93C8-67B6-105D-38D563D2C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53E54-236B-38C2-F09B-ACC3EC53D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CH" dirty="0"/>
              <a:t>/</a:t>
            </a:r>
            <a:r>
              <a:rPr dirty="0"/>
              <a:t>The Problem</a:t>
            </a:r>
            <a:r>
              <a:rPr lang="de-CH" dirty="0"/>
              <a:t>/</a:t>
            </a:r>
            <a:endParaRPr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FEF7DE2-80F3-F33C-18E4-61FAD4EF1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99362"/>
            <a:ext cx="2438400" cy="24384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D7E92340-644D-E54D-D100-7E17F77FC323}"/>
              </a:ext>
            </a:extLst>
          </p:cNvPr>
          <p:cNvSpPr txBox="1"/>
          <p:nvPr/>
        </p:nvSpPr>
        <p:spPr>
          <a:xfrm>
            <a:off x="838200" y="5168348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dirty="0"/>
              <a:t>10’000+ </a:t>
            </a:r>
            <a:r>
              <a:rPr lang="de-CH" dirty="0" err="1"/>
              <a:t>infrastructure</a:t>
            </a:r>
            <a:r>
              <a:rPr lang="de-CH" dirty="0"/>
              <a:t> </a:t>
            </a:r>
            <a:r>
              <a:rPr lang="de-CH" dirty="0" err="1"/>
              <a:t>contracts</a:t>
            </a: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5F6BAF1-DD40-642D-3DEB-714020B5CE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4008" y="1866899"/>
            <a:ext cx="3124200" cy="31242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CF71295-823F-5569-CE13-4BAFDEEEDF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479" y="3099794"/>
            <a:ext cx="658411" cy="658411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2DE0466A-C88B-2CB4-E1D7-5DFAD7863ACB}"/>
              </a:ext>
            </a:extLst>
          </p:cNvPr>
          <p:cNvSpPr txBox="1"/>
          <p:nvPr/>
        </p:nvSpPr>
        <p:spPr>
          <a:xfrm>
            <a:off x="4244008" y="5168348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dirty="0"/>
              <a:t>Manuel </a:t>
            </a:r>
            <a:r>
              <a:rPr lang="de-CH" dirty="0" err="1"/>
              <a:t>work</a:t>
            </a:r>
            <a:r>
              <a:rPr lang="de-CH" dirty="0"/>
              <a:t>, slow &amp;</a:t>
            </a:r>
          </a:p>
          <a:p>
            <a:pPr algn="ctr"/>
            <a:r>
              <a:rPr lang="de-CH" dirty="0"/>
              <a:t>expensive</a:t>
            </a:r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B2119DD-EDAB-4AD0-66AD-ECD350241F36}"/>
              </a:ext>
            </a:extLst>
          </p:cNvPr>
          <p:cNvSpPr txBox="1"/>
          <p:nvPr/>
        </p:nvSpPr>
        <p:spPr>
          <a:xfrm>
            <a:off x="8335616" y="5167830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contracts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1926</a:t>
            </a:r>
          </a:p>
          <a:p>
            <a:pPr algn="ctr"/>
            <a:r>
              <a:rPr lang="de-DE" dirty="0"/>
              <a:t>&amp; </a:t>
            </a:r>
            <a:r>
              <a:rPr lang="de-DE" dirty="0" err="1"/>
              <a:t>handwritten</a:t>
            </a:r>
            <a:endParaRPr lang="de-DE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11327CB7-8B3B-C9E7-654D-219C9F4FE9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490" y="2120236"/>
            <a:ext cx="2617526" cy="2617526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14429CA5-D175-8511-54F2-7B9AC4850F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825" y="3428999"/>
            <a:ext cx="658411" cy="65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876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0EE9C7-06D3-2546-656A-6CC33CD9B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de-CH" dirty="0"/>
              <a:t>/</a:t>
            </a:r>
            <a:r>
              <a:rPr lang="de-CH" dirty="0" err="1"/>
              <a:t>Our</a:t>
            </a:r>
            <a:r>
              <a:rPr lang="de-CH" dirty="0"/>
              <a:t> Solution/</a:t>
            </a:r>
            <a:br>
              <a:rPr lang="de-CH" dirty="0"/>
            </a:br>
            <a:r>
              <a:rPr lang="de-CH" sz="2700" dirty="0" err="1"/>
              <a:t>Taxonomy</a:t>
            </a:r>
            <a:r>
              <a:rPr lang="de-CH" sz="2700" dirty="0"/>
              <a:t> + LLM Pipeline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65F3974-A75A-A222-B11E-253AED8EB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20" y="3949368"/>
            <a:ext cx="3564835" cy="356483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38E623D-D117-C85A-AB3B-11E5922A7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659" y="3949367"/>
            <a:ext cx="3564835" cy="356483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27C22C4-4DA4-AC17-3B65-8F5DB3F86F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598" y="3949366"/>
            <a:ext cx="3564835" cy="3564835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DDB1050C-9B27-D10A-FAEF-4A82202C03BF}"/>
              </a:ext>
            </a:extLst>
          </p:cNvPr>
          <p:cNvSpPr txBox="1"/>
          <p:nvPr/>
        </p:nvSpPr>
        <p:spPr>
          <a:xfrm>
            <a:off x="1043770" y="1674674"/>
            <a:ext cx="28364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u="sng" dirty="0" err="1"/>
              <a:t>Step</a:t>
            </a:r>
            <a:r>
              <a:rPr lang="de-CH" u="sng" dirty="0"/>
              <a:t> 1</a:t>
            </a:r>
          </a:p>
          <a:p>
            <a:pPr algn="ctr"/>
            <a:r>
              <a:rPr lang="de-CH" dirty="0"/>
              <a:t>Create </a:t>
            </a:r>
            <a:r>
              <a:rPr lang="de-CH" dirty="0" err="1"/>
              <a:t>Taxonomy</a:t>
            </a:r>
            <a:endParaRPr lang="de-CH" dirty="0"/>
          </a:p>
          <a:p>
            <a:endParaRPr lang="de-CH" dirty="0"/>
          </a:p>
          <a:p>
            <a:pPr marL="285750" indent="-285750">
              <a:buFontTx/>
              <a:buChar char="-"/>
            </a:pPr>
            <a:r>
              <a:rPr lang="de-CH" dirty="0" err="1"/>
              <a:t>Contract</a:t>
            </a:r>
            <a:r>
              <a:rPr lang="de-CH" dirty="0"/>
              <a:t> </a:t>
            </a:r>
            <a:r>
              <a:rPr lang="de-CH" dirty="0" err="1"/>
              <a:t>types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machine-readable</a:t>
            </a:r>
            <a:r>
              <a:rPr lang="de-CH" dirty="0"/>
              <a:t> </a:t>
            </a:r>
            <a:r>
              <a:rPr lang="de-CH" dirty="0" err="1"/>
              <a:t>schema</a:t>
            </a:r>
            <a:endParaRPr lang="de-CH" dirty="0"/>
          </a:p>
          <a:p>
            <a:pPr marL="285750" indent="-285750">
              <a:buFontTx/>
              <a:buChar char="-"/>
            </a:pPr>
            <a:r>
              <a:rPr lang="de-CH" dirty="0"/>
              <a:t>3 </a:t>
            </a:r>
            <a:r>
              <a:rPr lang="de-CH" dirty="0" err="1"/>
              <a:t>disjoint</a:t>
            </a:r>
            <a:r>
              <a:rPr lang="de-CH" dirty="0"/>
              <a:t> building-block </a:t>
            </a:r>
            <a:r>
              <a:rPr lang="de-CH" dirty="0" err="1"/>
              <a:t>pools</a:t>
            </a:r>
            <a:endParaRPr lang="de-CH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895815F-C9A8-F035-5288-7B7FF04DB54E}"/>
              </a:ext>
            </a:extLst>
          </p:cNvPr>
          <p:cNvSpPr txBox="1"/>
          <p:nvPr/>
        </p:nvSpPr>
        <p:spPr>
          <a:xfrm>
            <a:off x="4545656" y="1674674"/>
            <a:ext cx="28364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u="sng" dirty="0" err="1"/>
              <a:t>Step</a:t>
            </a:r>
            <a:r>
              <a:rPr lang="de-CH" u="sng" dirty="0"/>
              <a:t> 2</a:t>
            </a:r>
          </a:p>
          <a:p>
            <a:pPr algn="ctr"/>
            <a:r>
              <a:rPr lang="de-CH" dirty="0" err="1"/>
              <a:t>Extraction</a:t>
            </a:r>
            <a:r>
              <a:rPr lang="de-CH" dirty="0"/>
              <a:t> Pipeline</a:t>
            </a:r>
          </a:p>
          <a:p>
            <a:endParaRPr lang="de-CH" dirty="0"/>
          </a:p>
          <a:p>
            <a:endParaRPr lang="de-CH" dirty="0"/>
          </a:p>
          <a:p>
            <a:r>
              <a:rPr lang="de-CH" dirty="0"/>
              <a:t>  PDF → </a:t>
            </a:r>
            <a:r>
              <a:rPr lang="de-CH" dirty="0" err="1"/>
              <a:t>markitdown</a:t>
            </a:r>
            <a:r>
              <a:rPr lang="de-CH" dirty="0"/>
              <a:t> → LLM + System Prompt → JSON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307A0D1-A506-3AEB-9EA0-4D802F92D291}"/>
              </a:ext>
            </a:extLst>
          </p:cNvPr>
          <p:cNvSpPr txBox="1"/>
          <p:nvPr/>
        </p:nvSpPr>
        <p:spPr>
          <a:xfrm>
            <a:off x="8047542" y="1674674"/>
            <a:ext cx="28364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u="sng" dirty="0" err="1"/>
              <a:t>Step</a:t>
            </a:r>
            <a:r>
              <a:rPr lang="de-CH" u="sng" dirty="0"/>
              <a:t> 3</a:t>
            </a:r>
          </a:p>
          <a:p>
            <a:pPr algn="ctr"/>
            <a:r>
              <a:rPr lang="de-CH" dirty="0"/>
              <a:t>Validation</a:t>
            </a:r>
          </a:p>
          <a:p>
            <a:endParaRPr lang="de-CH" dirty="0"/>
          </a:p>
          <a:p>
            <a:pPr marL="285750" indent="-285750">
              <a:buFontTx/>
              <a:buChar char="-"/>
            </a:pPr>
            <a:r>
              <a:rPr lang="de-CH" dirty="0"/>
              <a:t>Quality </a:t>
            </a:r>
            <a:r>
              <a:rPr lang="de-CH" dirty="0" err="1"/>
              <a:t>indicator</a:t>
            </a:r>
            <a:r>
              <a:rPr lang="de-CH" dirty="0"/>
              <a:t> + source </a:t>
            </a:r>
            <a:r>
              <a:rPr lang="de-CH" dirty="0" err="1"/>
              <a:t>reference</a:t>
            </a:r>
            <a:r>
              <a:rPr lang="de-CH" dirty="0"/>
              <a:t> per </a:t>
            </a:r>
            <a:r>
              <a:rPr lang="de-CH" dirty="0" err="1"/>
              <a:t>field</a:t>
            </a:r>
            <a:r>
              <a:rPr lang="de-CH" dirty="0"/>
              <a:t> </a:t>
            </a:r>
          </a:p>
          <a:p>
            <a:pPr marL="285750" indent="-285750">
              <a:buFontTx/>
              <a:buChar char="-"/>
            </a:pPr>
            <a:r>
              <a:rPr lang="de-CH" dirty="0"/>
              <a:t>Only </a:t>
            </a:r>
            <a:r>
              <a:rPr lang="de-CH" dirty="0" err="1"/>
              <a:t>allowed</a:t>
            </a:r>
            <a:r>
              <a:rPr lang="de-CH" dirty="0"/>
              <a:t> </a:t>
            </a:r>
            <a:r>
              <a:rPr lang="de-CH" dirty="0" err="1"/>
              <a:t>taxonomy</a:t>
            </a:r>
            <a:r>
              <a:rPr lang="de-CH" dirty="0"/>
              <a:t> </a:t>
            </a:r>
            <a:r>
              <a:rPr lang="de-CH" dirty="0" err="1"/>
              <a:t>combinations</a:t>
            </a:r>
            <a:r>
              <a:rPr lang="de-CH" dirty="0"/>
              <a:t> pass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0FB1307D-9700-4E94-F1A3-348841881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165" y="3949365"/>
            <a:ext cx="1298050" cy="12980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CB81319B-6CD2-56AE-1F3F-0FA25238DA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025" y="4108226"/>
            <a:ext cx="1139190" cy="113919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AE79831-E45A-8A77-295B-DBFBEDAC98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024" y="4028451"/>
            <a:ext cx="1139879" cy="113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521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Results: AI vs. Human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Test: Contract 90051045 (ASTRA/SBB Bridge </a:t>
            </a:r>
            <a:r>
              <a:rPr dirty="0" err="1"/>
              <a:t>Balsberg</a:t>
            </a:r>
            <a:r>
              <a:rPr dirty="0"/>
              <a:t>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✅ 7/10 fields match with </a:t>
            </a:r>
            <a:r>
              <a:rPr dirty="0" err="1"/>
              <a:t>Masterdatei</a:t>
            </a:r>
            <a:endParaRPr dirty="0"/>
          </a:p>
          <a:p>
            <a:pPr marL="0" indent="0">
              <a:buNone/>
            </a:pPr>
            <a:r>
              <a:rPr dirty="0"/>
              <a:t>✅ Cost split correctly extracted (CHF 15.8M, 45%/55%)</a:t>
            </a:r>
          </a:p>
          <a:p>
            <a:pPr marL="0" indent="0">
              <a:buNone/>
            </a:pPr>
            <a:r>
              <a:rPr dirty="0"/>
              <a:t>✅ Predecessor contract identified (from 1968)</a:t>
            </a:r>
          </a:p>
          <a:p>
            <a:pPr marL="0" indent="0">
              <a:buNone/>
            </a:pPr>
            <a:endParaRPr dirty="0"/>
          </a:p>
          <a:p>
            <a:pPr marL="0" indent="0" algn="ctr">
              <a:buNone/>
            </a:pPr>
            <a:r>
              <a:rPr dirty="0"/>
              <a:t> 1 field: AI is </a:t>
            </a:r>
            <a:r>
              <a:rPr dirty="0">
                <a:solidFill>
                  <a:srgbClr val="FF0000"/>
                </a:solidFill>
              </a:rPr>
              <a:t>MORE CORRECT </a:t>
            </a:r>
            <a:r>
              <a:rPr dirty="0"/>
              <a:t>than human data!</a:t>
            </a:r>
            <a:br>
              <a:rPr lang="de-CH" dirty="0"/>
            </a:br>
            <a:endParaRPr lang="de-CH" dirty="0"/>
          </a:p>
          <a:p>
            <a:pPr marL="0" indent="0" algn="ctr">
              <a:buNone/>
            </a:pPr>
            <a:r>
              <a:rPr lang="de-CH" sz="2400" dirty="0"/>
              <a:t>❌ </a:t>
            </a:r>
            <a:r>
              <a:rPr dirty="0" err="1"/>
              <a:t>Masterdatei</a:t>
            </a:r>
            <a:r>
              <a:rPr dirty="0"/>
              <a:t>: "</a:t>
            </a:r>
            <a:r>
              <a:rPr dirty="0" err="1"/>
              <a:t>Bahnübergang</a:t>
            </a:r>
            <a:r>
              <a:rPr dirty="0"/>
              <a:t>"</a:t>
            </a:r>
            <a:r>
              <a:rPr lang="de-CH" dirty="0"/>
              <a:t> &lt;-&gt; </a:t>
            </a:r>
            <a:r>
              <a:rPr dirty="0"/>
              <a:t>Contract says: "</a:t>
            </a:r>
            <a:r>
              <a:rPr dirty="0" err="1"/>
              <a:t>Bahnbrücke</a:t>
            </a:r>
            <a:r>
              <a:rPr dirty="0"/>
              <a:t>"</a:t>
            </a:r>
            <a:r>
              <a:rPr lang="de-CH" dirty="0"/>
              <a:t> ✅ </a:t>
            </a:r>
            <a:endParaRPr dirty="0"/>
          </a:p>
          <a:p>
            <a:pPr marL="0" indent="0" algn="ctr">
              <a:buNone/>
            </a:pPr>
            <a:endParaRPr dirty="0"/>
          </a:p>
          <a:p>
            <a:pPr marL="0" indent="0" algn="ctr">
              <a:buNone/>
            </a:pPr>
            <a:r>
              <a:rPr dirty="0">
                <a:solidFill>
                  <a:srgbClr val="FF0000"/>
                </a:solidFill>
              </a:rPr>
              <a:t>→ The AI found an error humans missed.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Roadmap: Manual → Automated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00425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u="sng" dirty="0"/>
              <a:t>TODAY</a:t>
            </a:r>
            <a:r>
              <a:rPr dirty="0"/>
              <a:t> (Hackathon)</a:t>
            </a:r>
          </a:p>
          <a:p>
            <a:r>
              <a:rPr lang="de-CH" dirty="0" err="1"/>
              <a:t>Taxonomy-ready</a:t>
            </a:r>
            <a:endParaRPr lang="de-CH" dirty="0"/>
          </a:p>
          <a:p>
            <a:r>
              <a:rPr lang="de-CH" dirty="0"/>
              <a:t>2</a:t>
            </a:r>
            <a:r>
              <a:rPr dirty="0"/>
              <a:t> contract, manual QA</a:t>
            </a:r>
            <a:endParaRPr lang="de-CH" dirty="0"/>
          </a:p>
          <a:p>
            <a:r>
              <a:rPr lang="de-CH" dirty="0"/>
              <a:t>Multi-</a:t>
            </a:r>
            <a:r>
              <a:rPr dirty="0"/>
              <a:t>LLM</a:t>
            </a:r>
            <a:r>
              <a:rPr lang="de-CH" dirty="0"/>
              <a:t> </a:t>
            </a:r>
            <a:r>
              <a:rPr lang="de-CH" dirty="0" err="1"/>
              <a:t>verification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u="sng" dirty="0"/>
              <a:t>NEXT</a:t>
            </a:r>
            <a:r>
              <a:rPr dirty="0"/>
              <a:t> (3–6 months)</a:t>
            </a:r>
          </a:p>
          <a:p>
            <a:r>
              <a:rPr dirty="0"/>
              <a:t>Batch </a:t>
            </a:r>
            <a:r>
              <a:rPr lang="de-CH" dirty="0"/>
              <a:t>10</a:t>
            </a:r>
            <a:r>
              <a:rPr dirty="0"/>
              <a:t>,000 contracts</a:t>
            </a:r>
            <a:endParaRPr lang="de-CH" dirty="0"/>
          </a:p>
          <a:p>
            <a:r>
              <a:rPr dirty="0"/>
              <a:t>Human-in-the-Loop</a:t>
            </a:r>
            <a:endParaRPr lang="de-CH" dirty="0"/>
          </a:p>
          <a:p>
            <a:r>
              <a:rPr dirty="0"/>
              <a:t>SAP Prefill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F3B059-9FE3-F423-9F0F-8EFDB2938675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004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CH" u="sng" dirty="0"/>
              <a:t>FUTURE</a:t>
            </a:r>
          </a:p>
          <a:p>
            <a:r>
              <a:rPr lang="de-CH" dirty="0"/>
              <a:t>Asset </a:t>
            </a:r>
            <a:r>
              <a:rPr lang="de-CH" dirty="0" err="1"/>
              <a:t>linking</a:t>
            </a:r>
            <a:r>
              <a:rPr lang="de-CH" dirty="0"/>
              <a:t> (</a:t>
            </a:r>
            <a:r>
              <a:rPr lang="de-CH" dirty="0" err="1"/>
              <a:t>contract</a:t>
            </a:r>
            <a:r>
              <a:rPr lang="de-CH" dirty="0"/>
              <a:t> → </a:t>
            </a:r>
            <a:r>
              <a:rPr lang="de-CH" dirty="0" err="1"/>
              <a:t>physical</a:t>
            </a:r>
            <a:r>
              <a:rPr lang="de-CH" dirty="0"/>
              <a:t> </a:t>
            </a:r>
            <a:r>
              <a:rPr lang="de-CH" dirty="0" err="1"/>
              <a:t>structure</a:t>
            </a:r>
            <a:r>
              <a:rPr lang="de-CH" dirty="0"/>
              <a:t> via UUID)</a:t>
            </a:r>
          </a:p>
          <a:p>
            <a:r>
              <a:rPr lang="de-CH" dirty="0" err="1"/>
              <a:t>Contract</a:t>
            </a:r>
            <a:r>
              <a:rPr lang="de-CH" dirty="0"/>
              <a:t> </a:t>
            </a:r>
            <a:r>
              <a:rPr lang="de-CH" dirty="0" err="1"/>
              <a:t>relationship</a:t>
            </a:r>
            <a:r>
              <a:rPr lang="de-CH" dirty="0"/>
              <a:t> </a:t>
            </a:r>
            <a:r>
              <a:rPr lang="de-CH" dirty="0" err="1"/>
              <a:t>graph</a:t>
            </a: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r>
              <a:rPr lang="de-CH" dirty="0"/>
              <a:t>⚡ The AI </a:t>
            </a:r>
            <a:r>
              <a:rPr lang="de-CH" dirty="0" err="1"/>
              <a:t>proposes</a:t>
            </a:r>
            <a:r>
              <a:rPr lang="de-CH" dirty="0"/>
              <a:t>, </a:t>
            </a:r>
            <a:r>
              <a:rPr lang="de-CH" dirty="0" err="1"/>
              <a:t>the</a:t>
            </a:r>
            <a:r>
              <a:rPr lang="de-CH" dirty="0"/>
              <a:t> human </a:t>
            </a:r>
            <a:r>
              <a:rPr lang="de-CH" dirty="0" err="1"/>
              <a:t>decides</a:t>
            </a:r>
            <a:r>
              <a:rPr lang="de-CH" dirty="0"/>
              <a:t>.</a:t>
            </a:r>
          </a:p>
          <a:p>
            <a:pPr marL="0" indent="0">
              <a:buNone/>
            </a:pPr>
            <a:r>
              <a:rPr lang="de-CH" dirty="0" err="1"/>
              <a:t>Uncertain</a:t>
            </a:r>
            <a:r>
              <a:rPr lang="de-CH" dirty="0"/>
              <a:t> </a:t>
            </a:r>
            <a:r>
              <a:rPr lang="de-CH" dirty="0" err="1"/>
              <a:t>fields</a:t>
            </a:r>
            <a:r>
              <a:rPr lang="de-CH" dirty="0"/>
              <a:t> </a:t>
            </a:r>
            <a:r>
              <a:rPr lang="de-CH" dirty="0" err="1"/>
              <a:t>always</a:t>
            </a:r>
            <a:r>
              <a:rPr lang="de-CH" dirty="0"/>
              <a:t> </a:t>
            </a:r>
            <a:r>
              <a:rPr lang="de-CH" dirty="0" err="1"/>
              <a:t>go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human </a:t>
            </a:r>
            <a:r>
              <a:rPr lang="de-CH" dirty="0" err="1"/>
              <a:t>verification</a:t>
            </a:r>
            <a:r>
              <a:rPr lang="de-CH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 are the ConTextractors.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Contract + Text + Extractors</a:t>
            </a:r>
          </a:p>
          <a:p>
            <a:endParaRPr dirty="0"/>
          </a:p>
          <a:p>
            <a:r>
              <a:rPr dirty="0"/>
              <a:t>From </a:t>
            </a:r>
            <a:r>
              <a:rPr dirty="0" err="1"/>
              <a:t>Aktenordner</a:t>
            </a:r>
            <a:r>
              <a:rPr dirty="0"/>
              <a:t> to structured, validated data.</a:t>
            </a:r>
          </a:p>
          <a:p>
            <a:r>
              <a:rPr dirty="0"/>
              <a:t>With source references. In seconds, not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6_H4R_PPTMaster" id="{A8D19306-7F92-3741-8E9B-1996A972416B}" vid="{4B0AC7A3-DE22-B748-A902-9C1F40428DB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pyright xmlns="b106c448-c3d1-41cc-8fd9-3acb307364b4" xsi:nil="true"/>
    <lcf76f155ced4ddcb4097134ff3c332f xmlns="b106c448-c3d1-41cc-8fd9-3acb307364b4">
      <Terms xmlns="http://schemas.microsoft.com/office/infopath/2007/PartnerControls"/>
    </lcf76f155ced4ddcb4097134ff3c332f>
    <TaxCatchAll xmlns="b043894e-b4c8-44d0-9690-d7947297ac1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5895299445B8C4DB378BBB718B1F939" ma:contentTypeVersion="18" ma:contentTypeDescription="Ein neues Dokument erstellen." ma:contentTypeScope="" ma:versionID="ca18c32604eb9eb075bdd5b520f76d7f">
  <xsd:schema xmlns:xsd="http://www.w3.org/2001/XMLSchema" xmlns:xs="http://www.w3.org/2001/XMLSchema" xmlns:p="http://schemas.microsoft.com/office/2006/metadata/properties" xmlns:ns2="b106c448-c3d1-41cc-8fd9-3acb307364b4" xmlns:ns3="b043894e-b4c8-44d0-9690-d7947297ac19" targetNamespace="http://schemas.microsoft.com/office/2006/metadata/properties" ma:root="true" ma:fieldsID="0e0a0918b2fa3636e306fde1bc5c258b" ns2:_="" ns3:_="">
    <xsd:import namespace="b106c448-c3d1-41cc-8fd9-3acb307364b4"/>
    <xsd:import namespace="b043894e-b4c8-44d0-9690-d7947297ac1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Copyrigh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06c448-c3d1-41cc-8fd9-3acb307364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f80f6d38-43b1-4def-ac06-3ce7426a3a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pyright" ma:index="23" nillable="true" ma:displayName="Copyright" ma:description="Quellenangabe" ma:format="Dropdown" ma:internalName="Copyright">
      <xsd:simpleType>
        <xsd:restriction base="dms:Text">
          <xsd:maxLength value="255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43894e-b4c8-44d0-9690-d7947297ac1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hidden="true" ma:internalName="SharedWithDetails" ma:readOnly="true">
      <xsd:simpleType>
        <xsd:restriction base="dms:Note"/>
      </xsd:simpleType>
    </xsd:element>
    <xsd:element name="TaxCatchAll" ma:index="14" nillable="true" ma:displayName="Taxonomy Catch All Column" ma:hidden="true" ma:list="{d38ad991-424d-4a22-91ec-88ad21543f30}" ma:internalName="TaxCatchAll" ma:readOnly="false" ma:showField="CatchAllData" ma:web="b043894e-b4c8-44d0-9690-d7947297ac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Inhaltstyp"/>
        <xsd:element ref="dc:title" minOccurs="0" maxOccurs="1" ma:index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CF5FD6-43E2-4C9A-9372-C9D60EE1772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D2420F-AFAE-4394-AC5D-D74FCC39CD53}">
  <ds:schemaRefs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b043894e-b4c8-44d0-9690-d7947297ac19"/>
    <ds:schemaRef ds:uri="http://schemas.microsoft.com/office/2006/documentManagement/types"/>
    <ds:schemaRef ds:uri="b106c448-c3d1-41cc-8fd9-3acb307364b4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BED3A9D-D1E4-45EA-8B49-CB6F60C2A9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06c448-c3d1-41cc-8fd9-3acb307364b4"/>
    <ds:schemaRef ds:uri="b043894e-b4c8-44d0-9690-d7947297ac1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cda0c22-3e77-43b9-8faf-0bad2baf7893}" enabled="1" method="Standard" siteId="{085c0b65-6a84-4006-851e-5faa7ec5367e}" contentBits="2" removed="0"/>
  <clbl:label id="{3dac9f92-1d4e-4aae-b975-a9900684008d}" enabled="1" method="Standard" siteId="{a1a72d9c-49e6-4f6d-9af6-5aafa1183bf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252</Words>
  <Application>Microsoft Macintosh PowerPoint</Application>
  <PresentationFormat>Breitbild</PresentationFormat>
  <Paragraphs>58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</vt:lpstr>
      <vt:lpstr>ConTextractors</vt:lpstr>
      <vt:lpstr>PowerPoint-Präsentation</vt:lpstr>
      <vt:lpstr>/The Problem/</vt:lpstr>
      <vt:lpstr>/Our Solution/ Taxonomy + LLM Pipeline</vt:lpstr>
      <vt:lpstr>Results: AI vs. Human</vt:lpstr>
      <vt:lpstr>Roadmap: Manual → Automated</vt:lpstr>
      <vt:lpstr>We are the ConTextractors.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Grote</dc:creator>
  <cp:lastModifiedBy>Simon Nölle</cp:lastModifiedBy>
  <cp:revision>7</cp:revision>
  <dcterms:created xsi:type="dcterms:W3CDTF">2026-06-23T13:11:35Z</dcterms:created>
  <dcterms:modified xsi:type="dcterms:W3CDTF">2026-06-23T15:21:17Z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dac9f92-1d4e-4aae-b975-a9900684008d_Enabled">
    <vt:lpwstr>true</vt:lpwstr>
  </property>
  <property fmtid="{D5CDD505-2E9C-101B-9397-08002B2CF9AE}" pid="3" name="MSIP_Label_3dac9f92-1d4e-4aae-b975-a9900684008d_SetDate">
    <vt:lpwstr>2025-06-16T07:21:58Z</vt:lpwstr>
  </property>
  <property fmtid="{D5CDD505-2E9C-101B-9397-08002B2CF9AE}" pid="4" name="MSIP_Label_3dac9f92-1d4e-4aae-b975-a9900684008d_Method">
    <vt:lpwstr>Standard</vt:lpwstr>
  </property>
  <property fmtid="{D5CDD505-2E9C-101B-9397-08002B2CF9AE}" pid="5" name="MSIP_Label_3dac9f92-1d4e-4aae-b975-a9900684008d_Name">
    <vt:lpwstr>DB Intern</vt:lpwstr>
  </property>
  <property fmtid="{D5CDD505-2E9C-101B-9397-08002B2CF9AE}" pid="6" name="MSIP_Label_3dac9f92-1d4e-4aae-b975-a9900684008d_SiteId">
    <vt:lpwstr>a1a72d9c-49e6-4f6d-9af6-5aafa1183bfd</vt:lpwstr>
  </property>
  <property fmtid="{D5CDD505-2E9C-101B-9397-08002B2CF9AE}" pid="7" name="MSIP_Label_3dac9f92-1d4e-4aae-b975-a9900684008d_ActionId">
    <vt:lpwstr>bb24dd71-d472-4ddc-9b15-9c5081759944</vt:lpwstr>
  </property>
  <property fmtid="{D5CDD505-2E9C-101B-9397-08002B2CF9AE}" pid="8" name="MSIP_Label_3dac9f92-1d4e-4aae-b975-a9900684008d_ContentBits">
    <vt:lpwstr>1</vt:lpwstr>
  </property>
  <property fmtid="{D5CDD505-2E9C-101B-9397-08002B2CF9AE}" pid="9" name="ClassificationContentMarkingHeaderLocations">
    <vt:lpwstr>Office:9</vt:lpwstr>
  </property>
  <property fmtid="{D5CDD505-2E9C-101B-9397-08002B2CF9AE}" pid="10" name="ClassificationContentMarkingHeaderText">
    <vt:lpwstr>          DB Intern / DB internal</vt:lpwstr>
  </property>
  <property fmtid="{D5CDD505-2E9C-101B-9397-08002B2CF9AE}" pid="11" name="ContentTypeId">
    <vt:lpwstr>0x010100C5895299445B8C4DB378BBB718B1F939</vt:lpwstr>
  </property>
  <property fmtid="{D5CDD505-2E9C-101B-9397-08002B2CF9AE}" pid="12" name="ClassificationContentMarkingFooterLocations">
    <vt:lpwstr>Office:9</vt:lpwstr>
  </property>
  <property fmtid="{D5CDD505-2E9C-101B-9397-08002B2CF9AE}" pid="13" name="ClassificationContentMarkingFooterText">
    <vt:lpwstr>TLP gelb (Adressatenkreis)</vt:lpwstr>
  </property>
</Properties>
</file>