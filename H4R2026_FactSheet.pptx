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E913A3-1867-426D-86AC-4E1D1B5FB1F8}" v="16" dt="2025-06-16T08:03:01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0F720-8D32-6BAD-8FC7-55C3EC778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8C2146-660A-AE7C-0329-D018D311B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171BE-FD78-76A8-6B80-48367763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B6DB5D-D71E-108F-466B-F91D2C80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3ADE4-6B4C-F03A-045E-F6F055DA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44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DD735-BDD1-94F6-947C-3B25372A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D8038-CC07-BF42-C180-8213F6092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B5BDC6-CB74-9C08-B136-A4BC672E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69B60-6007-2DBA-498D-F9DD3563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B44393-FFCD-986E-BD72-B043CB54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233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8F37-2345-A019-5A40-FCFC1B65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864E25-78F6-D8C8-4927-DE8FD5D0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A7F423-0307-C9C0-64D9-B44A22DA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067E8B-CE77-7EB1-A96D-E6233E35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B2ECE-5BD1-3A50-8A0C-C7377678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05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CEEA1-3EDA-9C07-C68A-B91F45D1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B1FBE-ACB9-17CF-35FE-F544523B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BE1FF5-D165-C3D9-D009-54088DA2C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DBB3C3-4B11-A8D5-FFC8-5D5EA1F7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C073DF-35D5-F739-65B9-A57A2F2F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04A1FD-63C3-0251-81C3-FE9BEA5E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20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90512-17C2-7AF1-E6AB-0FCF669B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6E44D-923F-EED5-A232-69A34590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6F1B74-D075-1C08-1133-1FF3F0EA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7FD04D-9D7B-F3EC-5939-F6F1B8020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BB85E1D-824B-FBD1-48C6-4AEA38582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C4EE23-62B7-2ADF-BDD6-16EBA027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D14211-2778-80B5-09A7-D692AF67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E239C4-616C-C451-0F5D-E6E42A7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58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23389-CF91-D54F-1BF0-E835245E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46169B-829B-590E-E9AC-4F7E08D9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033D54-559D-C62E-4A4B-ACC5B365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BE68-C7F2-6F9B-E453-D3661FFB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3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0E3135-8B3B-54AC-85DC-D91FD0DC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6C95FA-FD79-8400-617F-FA55B36B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B5510F-2C87-7BD6-9F43-0531D639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56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83582-0F38-B1B0-EF23-B1DE29E8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D2929C-C896-607D-BFD1-1B99E8B1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CF0998-1E97-ACA5-EA0D-B4EE0654B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D9FEF5-1005-2970-CE12-A0C0CDB3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679C54-569B-0D21-0EFB-237FC78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B40808-4539-2A37-5A17-CC1F436D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7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77623-19B5-91DE-F760-E886DBEA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7D6CE4-044E-8380-AB10-2590AEC8C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CB0F65-BCCD-F72F-1905-1095C7DF6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4837F0-EE1A-7981-C710-9A818DA8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226F3F-B5B3-2C74-F02D-3E401C00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5C8464-AB5F-231E-0165-6640E22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6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19370-FC31-BA4E-6845-33A053DB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AC76CE-BA41-D293-E213-79C6E60A9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0960E-8F1C-2BB9-FAF0-81A292C5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09603-E9D8-19AA-E598-29E1050D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0CC994-479E-32BA-1C9D-DEA19D5B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96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C970BE-25B3-EFF7-7DE9-41209FEC5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581558-0B33-6026-F9EA-CD06BF61A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B87AC9-5C5C-35B5-4B5C-AB6B3680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0FAC1-04C2-DBED-815F-F2F20C39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C25C6-03BF-BA3C-18D7-63B20956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94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4C124E-7B17-B2FD-9D2F-DDB0A07A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4BF6DF-E280-5E3C-E0DE-8013715D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A836C-2514-E8BA-CA51-983C4515C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09B6B-B446-416C-B509-27F8143F0A75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B1274-0C59-E38E-FEC9-32A44E98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CA194-377F-8AA7-C447-59152C00A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71D93-8784-4C02-8B2C-86355AB378F9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ED750F-FEF0-BA89-6E3E-9D360462EBB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5" t="30189" r="27702" b="16855"/>
          <a:stretch>
            <a:fillRect/>
          </a:stretch>
        </p:blipFill>
        <p:spPr>
          <a:xfrm>
            <a:off x="11415316" y="301923"/>
            <a:ext cx="635608" cy="91955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4C0BF6E-8C64-0D33-64D6-403B3BB23C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4684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AT" sz="1000">
                <a:solidFill>
                  <a:srgbClr val="FFC000">
                    <a:alpha val="50000"/>
                  </a:srgbClr>
                </a:solidFill>
                <a:latin typeface="Aptos" panose="020B0004020202020204" pitchFamily="34" charset="0"/>
              </a:rPr>
              <a:t>TLP gelb (Adressatenkreis)</a:t>
            </a:r>
          </a:p>
        </p:txBody>
      </p:sp>
    </p:spTree>
    <p:extLst>
      <p:ext uri="{BB962C8B-B14F-4D97-AF65-F5344CB8AC3E}">
        <p14:creationId xmlns:p14="http://schemas.microsoft.com/office/powerpoint/2010/main" val="25056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9B84F-0F35-1B3B-6454-317804BB9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61712"/>
          </a:xfrm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de-DE" i="1" dirty="0"/>
              <a:t>Challenge 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E2D0B35-9A39-00CE-1798-D62A0767A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5200"/>
            <a:ext cx="9144000" cy="714240"/>
          </a:xfrm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>
            <a:normAutofit/>
          </a:bodyPr>
          <a:lstStyle/>
          <a:p>
            <a:r>
              <a:rPr lang="de-DE" sz="4000" i="1" dirty="0"/>
              <a:t>Team </a:t>
            </a:r>
            <a:r>
              <a:rPr lang="de-DE" sz="4000" i="1" dirty="0" err="1"/>
              <a:t>name</a:t>
            </a:r>
            <a:endParaRPr lang="de-DE" sz="4000" i="1" dirty="0"/>
          </a:p>
          <a:p>
            <a:endParaRPr lang="de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CA5DF11-3593-789C-55EF-11E2E5BAE3A1}"/>
              </a:ext>
            </a:extLst>
          </p:cNvPr>
          <p:cNvSpPr txBox="1"/>
          <p:nvPr/>
        </p:nvSpPr>
        <p:spPr>
          <a:xfrm>
            <a:off x="2382328" y="4589479"/>
            <a:ext cx="7427343" cy="18774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anchor="ctr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(max. 7)</a:t>
            </a:r>
            <a:br>
              <a:rPr lang="de-DE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1 E-Mail</a:t>
            </a:r>
          </a:p>
          <a:p>
            <a:pPr algn="ctr"/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2 E-Mail</a:t>
            </a:r>
          </a:p>
          <a:p>
            <a:pPr algn="ctr"/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3 E-Mail</a:t>
            </a:r>
          </a:p>
          <a:p>
            <a:pPr algn="ctr"/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4 E-Mail</a:t>
            </a:r>
          </a:p>
          <a:p>
            <a:pPr algn="ctr"/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5 E-Mail</a:t>
            </a:r>
          </a:p>
          <a:p>
            <a:pPr algn="ctr"/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6 E-Mail</a:t>
            </a:r>
          </a:p>
          <a:p>
            <a:pPr algn="ctr"/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7 E-Mail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6092527D-5A9F-2BDD-F98A-5089F1433D44}"/>
              </a:ext>
            </a:extLst>
          </p:cNvPr>
          <p:cNvSpPr txBox="1">
            <a:spLocks/>
          </p:cNvSpPr>
          <p:nvPr/>
        </p:nvSpPr>
        <p:spPr>
          <a:xfrm>
            <a:off x="2382328" y="2265780"/>
            <a:ext cx="7427343" cy="81088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u="sng" dirty="0">
                <a:solidFill>
                  <a:srgbClr val="FF0000"/>
                </a:solidFill>
              </a:rPr>
              <a:t>Challenge</a:t>
            </a:r>
            <a:r>
              <a:rPr lang="de-DE" sz="1800" i="1" u="sng" dirty="0"/>
              <a:t> </a:t>
            </a:r>
            <a:r>
              <a:rPr lang="de-DE" sz="1800" b="1" u="sng" dirty="0">
                <a:solidFill>
                  <a:srgbClr val="FF0000"/>
                </a:solidFill>
              </a:rPr>
              <a:t>Owner</a:t>
            </a:r>
          </a:p>
          <a:p>
            <a:r>
              <a:rPr lang="de-DE" sz="1400" i="1" dirty="0"/>
              <a:t>Challenge Owner 1 E-Mail</a:t>
            </a:r>
            <a:br>
              <a:rPr lang="de-DE" sz="1400" i="1" dirty="0"/>
            </a:br>
            <a:r>
              <a:rPr lang="de-DE" sz="1400" i="1" dirty="0"/>
              <a:t>Challenge Owner 2 E-Mail</a:t>
            </a:r>
          </a:p>
        </p:txBody>
      </p:sp>
    </p:spTree>
    <p:extLst>
      <p:ext uri="{BB962C8B-B14F-4D97-AF65-F5344CB8AC3E}">
        <p14:creationId xmlns:p14="http://schemas.microsoft.com/office/powerpoint/2010/main" val="370296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8D74A-B9AF-7B4F-EE38-4F7AE3D10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427"/>
            <a:ext cx="4800600" cy="682831"/>
          </a:xfrm>
        </p:spPr>
        <p:txBody>
          <a:bodyPr>
            <a:normAutofit/>
          </a:bodyPr>
          <a:lstStyle/>
          <a:p>
            <a:r>
              <a:rPr lang="en-US" sz="1400" b="1" i="0" dirty="0">
                <a:solidFill>
                  <a:srgbClr val="0F172A"/>
                </a:solidFill>
                <a:effectLst/>
              </a:rPr>
              <a:t>Description of the Challenge</a:t>
            </a:r>
            <a:br>
              <a:rPr lang="en-US" sz="14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What is the problem/idea? What is the current status? </a:t>
            </a:r>
            <a:br>
              <a:rPr lang="en-US" sz="1050" b="0" i="0" dirty="0">
                <a:solidFill>
                  <a:srgbClr val="334155"/>
                </a:solidFill>
                <a:effectLst/>
              </a:rPr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Focus on important/central points.</a:t>
            </a:r>
            <a:endParaRPr lang="de-DE" sz="105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FEE62-D06A-3360-CD18-284FEB2D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258"/>
            <a:ext cx="4800600" cy="3418113"/>
          </a:xfrm>
          <a:ln>
            <a:solidFill>
              <a:schemeClr val="tx1"/>
            </a:solidFill>
            <a:prstDash val="solid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0E04B64-2B0F-4488-F7DB-D130FB158C88}"/>
              </a:ext>
            </a:extLst>
          </p:cNvPr>
          <p:cNvSpPr txBox="1">
            <a:spLocks/>
          </p:cNvSpPr>
          <p:nvPr/>
        </p:nvSpPr>
        <p:spPr>
          <a:xfrm>
            <a:off x="6096000" y="340427"/>
            <a:ext cx="4800600" cy="682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400" b="1" i="0" dirty="0">
                <a:solidFill>
                  <a:srgbClr val="0F172A"/>
                </a:solidFill>
                <a:effectLst/>
              </a:rPr>
              <a:t>Description of the Solution or Idea</a:t>
            </a:r>
            <a:br>
              <a:rPr lang="en-US" sz="14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What are the key features of the solution?</a:t>
            </a:r>
            <a:br>
              <a:rPr lang="en-US" sz="1050" b="0" dirty="0">
                <a:solidFill>
                  <a:srgbClr val="334155"/>
                </a:solidFill>
              </a:rPr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Focus on important/central points.</a:t>
            </a:r>
            <a:endParaRPr lang="de-DE" sz="105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B26CFB6-BB7B-94F9-1697-4AE03EAED08B}"/>
              </a:ext>
            </a:extLst>
          </p:cNvPr>
          <p:cNvSpPr txBox="1">
            <a:spLocks/>
          </p:cNvSpPr>
          <p:nvPr/>
        </p:nvSpPr>
        <p:spPr>
          <a:xfrm>
            <a:off x="6096000" y="1023258"/>
            <a:ext cx="4800600" cy="3418113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6CAA227-9BDB-311F-5B8C-1B6C90C5C92D}"/>
              </a:ext>
            </a:extLst>
          </p:cNvPr>
          <p:cNvSpPr txBox="1">
            <a:spLocks/>
          </p:cNvSpPr>
          <p:nvPr/>
        </p:nvSpPr>
        <p:spPr>
          <a:xfrm>
            <a:off x="838200" y="4618513"/>
            <a:ext cx="4800600" cy="34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sz="1050" dirty="0"/>
              <a:t>Project Links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A2B7333-BA37-8832-8093-B6B2565C42F7}"/>
              </a:ext>
            </a:extLst>
          </p:cNvPr>
          <p:cNvSpPr txBox="1">
            <a:spLocks/>
          </p:cNvSpPr>
          <p:nvPr/>
        </p:nvSpPr>
        <p:spPr>
          <a:xfrm>
            <a:off x="838200" y="4963886"/>
            <a:ext cx="10058400" cy="1194458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/>
              <a:t>GitHub Repository:</a:t>
            </a:r>
          </a:p>
          <a:p>
            <a:r>
              <a:rPr lang="de-DE" sz="1050" dirty="0"/>
              <a:t>Demo: </a:t>
            </a:r>
          </a:p>
          <a:p>
            <a:r>
              <a:rPr lang="de-DE" sz="1050" dirty="0"/>
              <a:t>Further Links:</a:t>
            </a:r>
          </a:p>
        </p:txBody>
      </p:sp>
    </p:spTree>
    <p:extLst>
      <p:ext uri="{BB962C8B-B14F-4D97-AF65-F5344CB8AC3E}">
        <p14:creationId xmlns:p14="http://schemas.microsoft.com/office/powerpoint/2010/main" val="315975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FEE62-D06A-3360-CD18-284FEB2D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80000"/>
            <a:ext cx="4659086" cy="756000"/>
          </a:xfrm>
          <a:ln>
            <a:solidFill>
              <a:schemeClr val="tx1"/>
            </a:solidFill>
            <a:prstDash val="solid"/>
          </a:ln>
        </p:spPr>
        <p:txBody>
          <a:bodyPr anchor="t">
            <a:normAutofit/>
          </a:bodyPr>
          <a:lstStyle/>
          <a:p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8EBD656-5719-FFA2-4DB2-23C82B73AF33}"/>
              </a:ext>
            </a:extLst>
          </p:cNvPr>
          <p:cNvSpPr txBox="1">
            <a:spLocks/>
          </p:cNvSpPr>
          <p:nvPr/>
        </p:nvSpPr>
        <p:spPr>
          <a:xfrm>
            <a:off x="6096000" y="432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Are there any existing alternatives to the solution?</a:t>
            </a:r>
            <a:endParaRPr lang="en-US" sz="1200" b="0" i="0" dirty="0">
              <a:solidFill>
                <a:srgbClr val="334155"/>
              </a:solidFill>
              <a:effectLst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AA67A1D-1775-47EB-C6B8-2D1F646A844D}"/>
              </a:ext>
            </a:extLst>
          </p:cNvPr>
          <p:cNvSpPr txBox="1">
            <a:spLocks/>
          </p:cNvSpPr>
          <p:nvPr/>
        </p:nvSpPr>
        <p:spPr>
          <a:xfrm>
            <a:off x="6096000" y="2487751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D75E147C-01D1-6200-5FBB-F978E79FAFC5}"/>
              </a:ext>
            </a:extLst>
          </p:cNvPr>
          <p:cNvSpPr txBox="1">
            <a:spLocks/>
          </p:cNvSpPr>
          <p:nvPr/>
        </p:nvSpPr>
        <p:spPr>
          <a:xfrm>
            <a:off x="6096000" y="1980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Which alternatives are out of the question and why?</a:t>
            </a:r>
            <a:endParaRPr lang="en-US" sz="1200" b="0" i="0" dirty="0">
              <a:solidFill>
                <a:srgbClr val="334155"/>
              </a:solidFill>
              <a:effectLst/>
            </a:endParaRP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6AD8C6D-6739-4A20-FAF8-129BA6D9A943}"/>
              </a:ext>
            </a:extLst>
          </p:cNvPr>
          <p:cNvSpPr txBox="1">
            <a:spLocks/>
          </p:cNvSpPr>
          <p:nvPr/>
        </p:nvSpPr>
        <p:spPr>
          <a:xfrm>
            <a:off x="6096000" y="3888000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C5E17B89-BB80-BC4F-02DE-52C4353EEF26}"/>
              </a:ext>
            </a:extLst>
          </p:cNvPr>
          <p:cNvSpPr txBox="1">
            <a:spLocks/>
          </p:cNvSpPr>
          <p:nvPr/>
        </p:nvSpPr>
        <p:spPr>
          <a:xfrm>
            <a:off x="6096000" y="3384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Are there any foreseeable risks, hurdles or dependencies, how needs to be considered?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DEF7993-621B-F41E-42B0-07562CA64420}"/>
              </a:ext>
            </a:extLst>
          </p:cNvPr>
          <p:cNvSpPr txBox="1">
            <a:spLocks/>
          </p:cNvSpPr>
          <p:nvPr/>
        </p:nvSpPr>
        <p:spPr>
          <a:xfrm>
            <a:off x="720000" y="1080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82EBA07A-803A-2B20-781C-957925F7AC17}"/>
              </a:ext>
            </a:extLst>
          </p:cNvPr>
          <p:cNvSpPr txBox="1">
            <a:spLocks/>
          </p:cNvSpPr>
          <p:nvPr/>
        </p:nvSpPr>
        <p:spPr>
          <a:xfrm>
            <a:off x="720000" y="432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Who are the user groups of the described solution?</a:t>
            </a:r>
            <a:br>
              <a:rPr lang="en-US" sz="12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Internal/external user groups (e.g., business sectors, b2c / b2b customers, etc.)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6F790A49-DBE7-BB71-372E-B6300615545B}"/>
              </a:ext>
            </a:extLst>
          </p:cNvPr>
          <p:cNvSpPr txBox="1">
            <a:spLocks/>
          </p:cNvSpPr>
          <p:nvPr/>
        </p:nvSpPr>
        <p:spPr>
          <a:xfrm>
            <a:off x="720000" y="2487751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2EFC0D03-EAAB-E48E-D53A-8E21A7B89478}"/>
              </a:ext>
            </a:extLst>
          </p:cNvPr>
          <p:cNvSpPr txBox="1">
            <a:spLocks/>
          </p:cNvSpPr>
          <p:nvPr/>
        </p:nvSpPr>
        <p:spPr>
          <a:xfrm>
            <a:off x="720000" y="1980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is the economic benefit?</a:t>
            </a:r>
            <a:br>
              <a:rPr lang="en-US" sz="105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E.g., reduction in compensation costs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C349F8FA-312E-48E4-ADF1-216DFEEA2856}"/>
              </a:ext>
            </a:extLst>
          </p:cNvPr>
          <p:cNvSpPr txBox="1">
            <a:spLocks/>
          </p:cNvSpPr>
          <p:nvPr/>
        </p:nvSpPr>
        <p:spPr>
          <a:xfrm>
            <a:off x="720000" y="3888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E0B90121-88D0-65FC-24AE-1554BFE5A22C}"/>
              </a:ext>
            </a:extLst>
          </p:cNvPr>
          <p:cNvSpPr txBox="1">
            <a:spLocks/>
          </p:cNvSpPr>
          <p:nvPr/>
        </p:nvSpPr>
        <p:spPr>
          <a:xfrm>
            <a:off x="720000" y="3384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are the positive impacts on the rail system?</a:t>
            </a:r>
            <a:br>
              <a:rPr lang="en-US" sz="12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E.g., attractiveness of rail transport, ecological impacts, ...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EE5432D6-8783-990A-BDDD-EC7623D9AD50}"/>
              </a:ext>
            </a:extLst>
          </p:cNvPr>
          <p:cNvSpPr txBox="1">
            <a:spLocks/>
          </p:cNvSpPr>
          <p:nvPr/>
        </p:nvSpPr>
        <p:spPr>
          <a:xfrm>
            <a:off x="720000" y="5292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7C10CABC-15CE-2C83-2BB3-BE4A5E7CBB62}"/>
              </a:ext>
            </a:extLst>
          </p:cNvPr>
          <p:cNvSpPr txBox="1">
            <a:spLocks/>
          </p:cNvSpPr>
          <p:nvPr/>
        </p:nvSpPr>
        <p:spPr>
          <a:xfrm>
            <a:off x="720000" y="4788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is the maturity level of the technologies used?</a:t>
            </a:r>
          </a:p>
          <a:p>
            <a:r>
              <a:rPr lang="en-US" sz="1050" b="0" i="0" dirty="0">
                <a:solidFill>
                  <a:srgbClr val="334155"/>
                </a:solidFill>
                <a:effectLst/>
              </a:rPr>
              <a:t>May depends on the railway company.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FAF55115-9F61-5DD4-AC88-88CEAA176C07}"/>
              </a:ext>
            </a:extLst>
          </p:cNvPr>
          <p:cNvSpPr txBox="1">
            <a:spLocks/>
          </p:cNvSpPr>
          <p:nvPr/>
        </p:nvSpPr>
        <p:spPr>
          <a:xfrm>
            <a:off x="6096000" y="5292000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 dirty="0"/>
              <a:t>Field </a:t>
            </a:r>
            <a:r>
              <a:rPr lang="de-DE" sz="1050" dirty="0" err="1"/>
              <a:t>for</a:t>
            </a:r>
            <a:r>
              <a:rPr lang="de-DE" sz="1050" dirty="0"/>
              <a:t> </a:t>
            </a:r>
            <a:r>
              <a:rPr lang="de-DE" sz="1050" dirty="0" err="1"/>
              <a:t>Answers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515965EC-1208-909E-5806-BD13D9D7D16F}"/>
              </a:ext>
            </a:extLst>
          </p:cNvPr>
          <p:cNvSpPr txBox="1">
            <a:spLocks/>
          </p:cNvSpPr>
          <p:nvPr/>
        </p:nvSpPr>
        <p:spPr>
          <a:xfrm>
            <a:off x="6096000" y="4788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are the next Steps? </a:t>
            </a:r>
          </a:p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do you need to implement the solution?</a:t>
            </a:r>
          </a:p>
        </p:txBody>
      </p:sp>
    </p:spTree>
    <p:extLst>
      <p:ext uri="{BB962C8B-B14F-4D97-AF65-F5344CB8AC3E}">
        <p14:creationId xmlns:p14="http://schemas.microsoft.com/office/powerpoint/2010/main" val="233889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pyright xmlns="b106c448-c3d1-41cc-8fd9-3acb307364b4" xsi:nil="true"/>
    <lcf76f155ced4ddcb4097134ff3c332f xmlns="b106c448-c3d1-41cc-8fd9-3acb307364b4">
      <Terms xmlns="http://schemas.microsoft.com/office/infopath/2007/PartnerControls"/>
    </lcf76f155ced4ddcb4097134ff3c332f>
    <TaxCatchAll xmlns="b043894e-b4c8-44d0-9690-d7947297ac1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95299445B8C4DB378BBB718B1F939" ma:contentTypeVersion="17" ma:contentTypeDescription="Ein neues Dokument erstellen." ma:contentTypeScope="" ma:versionID="efa937a253b8a0ad253458d0295c9a6c">
  <xsd:schema xmlns:xsd="http://www.w3.org/2001/XMLSchema" xmlns:xs="http://www.w3.org/2001/XMLSchema" xmlns:p="http://schemas.microsoft.com/office/2006/metadata/properties" xmlns:ns2="b106c448-c3d1-41cc-8fd9-3acb307364b4" xmlns:ns3="b043894e-b4c8-44d0-9690-d7947297ac19" targetNamespace="http://schemas.microsoft.com/office/2006/metadata/properties" ma:root="true" ma:fieldsID="af1e72e99746a9a12b0b64b9fe407f72" ns2:_="" ns3:_="">
    <xsd:import namespace="b106c448-c3d1-41cc-8fd9-3acb307364b4"/>
    <xsd:import namespace="b043894e-b4c8-44d0-9690-d7947297ac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Copyrigh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6c448-c3d1-41cc-8fd9-3acb30736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pyright" ma:index="23" nillable="true" ma:displayName="Copyright" ma:description="Quellenangabe" ma:format="Dropdown" ma:internalName="Copyrigh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3894e-b4c8-44d0-9690-d7947297ac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d38ad991-424d-4a22-91ec-88ad21543f30}" ma:internalName="TaxCatchAll" ma:readOnly="false" ma:showField="CatchAllData" ma:web="b043894e-b4c8-44d0-9690-d7947297ac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3B6C51-77D4-4F63-A8EC-8C7A763498FB}">
  <ds:schemaRefs>
    <ds:schemaRef ds:uri="http://schemas.microsoft.com/office/2006/metadata/properties"/>
    <ds:schemaRef ds:uri="http://schemas.microsoft.com/office/infopath/2007/PartnerControls"/>
    <ds:schemaRef ds:uri="b106c448-c3d1-41cc-8fd9-3acb307364b4"/>
    <ds:schemaRef ds:uri="b043894e-b4c8-44d0-9690-d7947297ac19"/>
  </ds:schemaRefs>
</ds:datastoreItem>
</file>

<file path=customXml/itemProps2.xml><?xml version="1.0" encoding="utf-8"?>
<ds:datastoreItem xmlns:ds="http://schemas.openxmlformats.org/officeDocument/2006/customXml" ds:itemID="{B4D14693-25A4-4C1A-ABDC-E6E0CFF1A6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6c448-c3d1-41cc-8fd9-3acb307364b4"/>
    <ds:schemaRef ds:uri="b043894e-b4c8-44d0-9690-d7947297a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D488EB-8795-4A31-B76F-16B318CFE1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da0c22-3e77-43b9-8faf-0bad2baf7893}" enabled="1" method="Standard" siteId="{085c0b65-6a84-4006-851e-5faa7ec5367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Breitbild</PresentationFormat>
  <Paragraphs>37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</vt:lpstr>
      <vt:lpstr>Challenge Titel</vt:lpstr>
      <vt:lpstr>Description of the Challenge What is the problem/idea? What is the current status?  Focus on important/central points.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Strauß</dc:creator>
  <cp:lastModifiedBy>Kutschker Madeleine (BCC.IN)</cp:lastModifiedBy>
  <cp:revision>5</cp:revision>
  <dcterms:created xsi:type="dcterms:W3CDTF">2025-06-16T07:18:47Z</dcterms:created>
  <dcterms:modified xsi:type="dcterms:W3CDTF">2026-06-17T13:29:21Z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ac9f92-1d4e-4aae-b975-a9900684008d_Enabled">
    <vt:lpwstr>true</vt:lpwstr>
  </property>
  <property fmtid="{D5CDD505-2E9C-101B-9397-08002B2CF9AE}" pid="3" name="MSIP_Label_3dac9f92-1d4e-4aae-b975-a9900684008d_SetDate">
    <vt:lpwstr>2025-06-16T07:21:58Z</vt:lpwstr>
  </property>
  <property fmtid="{D5CDD505-2E9C-101B-9397-08002B2CF9AE}" pid="4" name="MSIP_Label_3dac9f92-1d4e-4aae-b975-a9900684008d_Method">
    <vt:lpwstr>Standard</vt:lpwstr>
  </property>
  <property fmtid="{D5CDD505-2E9C-101B-9397-08002B2CF9AE}" pid="5" name="MSIP_Label_3dac9f92-1d4e-4aae-b975-a9900684008d_Name">
    <vt:lpwstr>DB Intern</vt:lpwstr>
  </property>
  <property fmtid="{D5CDD505-2E9C-101B-9397-08002B2CF9AE}" pid="6" name="MSIP_Label_3dac9f92-1d4e-4aae-b975-a9900684008d_SiteId">
    <vt:lpwstr>a1a72d9c-49e6-4f6d-9af6-5aafa1183bfd</vt:lpwstr>
  </property>
  <property fmtid="{D5CDD505-2E9C-101B-9397-08002B2CF9AE}" pid="7" name="MSIP_Label_3dac9f92-1d4e-4aae-b975-a9900684008d_ActionId">
    <vt:lpwstr>bb24dd71-d472-4ddc-9b15-9c5081759944</vt:lpwstr>
  </property>
  <property fmtid="{D5CDD505-2E9C-101B-9397-08002B2CF9AE}" pid="8" name="MSIP_Label_3dac9f92-1d4e-4aae-b975-a9900684008d_ContentBits">
    <vt:lpwstr>1</vt:lpwstr>
  </property>
  <property fmtid="{D5CDD505-2E9C-101B-9397-08002B2CF9AE}" pid="9" name="ClassificationContentMarkingHeaderLocations">
    <vt:lpwstr>Office:9</vt:lpwstr>
  </property>
  <property fmtid="{D5CDD505-2E9C-101B-9397-08002B2CF9AE}" pid="10" name="ClassificationContentMarkingHeaderText">
    <vt:lpwstr>          DB Intern / DB internal</vt:lpwstr>
  </property>
  <property fmtid="{D5CDD505-2E9C-101B-9397-08002B2CF9AE}" pid="11" name="ContentTypeId">
    <vt:lpwstr>0x010100C5895299445B8C4DB378BBB718B1F939</vt:lpwstr>
  </property>
  <property fmtid="{D5CDD505-2E9C-101B-9397-08002B2CF9AE}" pid="12" name="ClassificationContentMarkingFooterLocations">
    <vt:lpwstr>Office:12</vt:lpwstr>
  </property>
  <property fmtid="{D5CDD505-2E9C-101B-9397-08002B2CF9AE}" pid="13" name="ClassificationContentMarkingFooterText">
    <vt:lpwstr>TLP gelb (Adressatenkreis)</vt:lpwstr>
  </property>
</Properties>
</file>